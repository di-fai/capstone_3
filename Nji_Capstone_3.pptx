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webextensions/webextension1.xml" ContentType="application/vnd.ms-office.webextension+xml"/>
  <Override PartName="/ppt/webextensions/webextension2.xml" ContentType="application/vnd.ms-office.webextension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56" r:id="rId3"/>
    <p:sldId id="257" r:id="rId4"/>
    <p:sldId id="258" r:id="rId5"/>
    <p:sldId id="260" r:id="rId6"/>
    <p:sldId id="273" r:id="rId7"/>
    <p:sldId id="272" r:id="rId8"/>
    <p:sldId id="261" r:id="rId9"/>
    <p:sldId id="262" r:id="rId10"/>
    <p:sldId id="263" r:id="rId11"/>
    <p:sldId id="264" r:id="rId12"/>
    <p:sldId id="265" r:id="rId13"/>
    <p:sldId id="269" r:id="rId14"/>
    <p:sldId id="27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8E86"/>
    <a:srgbClr val="0A6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2022 Q1</c:v>
                </c:pt>
                <c:pt idx="1">
                  <c:v>2022 Q2</c:v>
                </c:pt>
                <c:pt idx="2">
                  <c:v>2022 Q3</c:v>
                </c:pt>
                <c:pt idx="3">
                  <c:v>2022 Q4</c:v>
                </c:pt>
                <c:pt idx="4">
                  <c:v>2023 Q1</c:v>
                </c:pt>
                <c:pt idx="5">
                  <c:v>2023 Q2</c:v>
                </c:pt>
                <c:pt idx="6">
                  <c:v>2023 Q3</c:v>
                </c:pt>
                <c:pt idx="7">
                  <c:v>2023 Q4</c:v>
                </c:pt>
                <c:pt idx="8">
                  <c:v>2024 Q1</c:v>
                </c:pt>
                <c:pt idx="9">
                  <c:v>2024 Q2</c:v>
                </c:pt>
                <c:pt idx="10">
                  <c:v>2024 Q3</c:v>
                </c:pt>
                <c:pt idx="11">
                  <c:v>2024 Q4</c:v>
                </c:pt>
                <c:pt idx="12">
                  <c:v>2025 Q1</c:v>
                </c:pt>
                <c:pt idx="13">
                  <c:v>2025 Q2</c:v>
                </c:pt>
                <c:pt idx="14">
                  <c:v>2025 Q3</c:v>
                </c:pt>
                <c:pt idx="15">
                  <c:v>2025 Q4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1.0900000000000001</c:v>
                </c:pt>
                <c:pt idx="1">
                  <c:v>1.44</c:v>
                </c:pt>
                <c:pt idx="2">
                  <c:v>1.1499999999999999</c:v>
                </c:pt>
                <c:pt idx="3">
                  <c:v>1.17</c:v>
                </c:pt>
                <c:pt idx="4">
                  <c:v>1.4</c:v>
                </c:pt>
                <c:pt idx="5">
                  <c:v>1.41</c:v>
                </c:pt>
                <c:pt idx="6">
                  <c:v>1.41</c:v>
                </c:pt>
                <c:pt idx="7">
                  <c:v>2.76</c:v>
                </c:pt>
                <c:pt idx="8">
                  <c:v>1.72</c:v>
                </c:pt>
                <c:pt idx="9">
                  <c:v>1.37</c:v>
                </c:pt>
                <c:pt idx="10">
                  <c:v>1.45</c:v>
                </c:pt>
                <c:pt idx="11">
                  <c:v>2.44</c:v>
                </c:pt>
                <c:pt idx="12">
                  <c:v>2.46</c:v>
                </c:pt>
                <c:pt idx="13">
                  <c:v>2.9</c:v>
                </c:pt>
                <c:pt idx="14">
                  <c:v>3.33</c:v>
                </c:pt>
                <c:pt idx="15">
                  <c:v>3.33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24-469E-AB11-77BD776437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State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6B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1C-4140-8CC3-28D794AD557F}"/>
              </c:ext>
            </c:extLst>
          </c:dPt>
          <c:dPt>
            <c:idx val="1"/>
            <c:bubble3D val="0"/>
            <c:spPr>
              <a:solidFill>
                <a:srgbClr val="0E8E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1C-4140-8CC3-28D794AD557F}"/>
              </c:ext>
            </c:extLst>
          </c:dPt>
          <c:dPt>
            <c:idx val="2"/>
            <c:bubble3D val="0"/>
            <c:spPr>
              <a:solidFill>
                <a:srgbClr val="DDA1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1C-4140-8CC3-28D794AD557F}"/>
              </c:ext>
            </c:extLst>
          </c:dPt>
          <c:dPt>
            <c:idx val="3"/>
            <c:bubble3D val="0"/>
            <c:spPr>
              <a:solidFill>
                <a:srgbClr val="8ED0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1C-4140-8CC3-28D794AD557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39%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81C-4140-8CC3-28D794AD557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30%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81C-4140-8CC3-28D794AD557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23%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81C-4140-8CC3-28D794AD557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81C-4140-8CC3-28D794AD557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Maryland</c:v>
                </c:pt>
                <c:pt idx="1">
                  <c:v>Massachusetts</c:v>
                </c:pt>
                <c:pt idx="2">
                  <c:v>New Jersey</c:v>
                </c:pt>
                <c:pt idx="3">
                  <c:v>Maine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233.26</c:v>
                </c:pt>
                <c:pt idx="1">
                  <c:v>160.38</c:v>
                </c:pt>
                <c:pt idx="2">
                  <c:v>107.2</c:v>
                </c:pt>
                <c:pt idx="3">
                  <c:v>42.2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1C-4140-8CC3-28D794AD55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A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107122438355357E-2"/>
          <c:y val="9.0580941078933462E-3"/>
          <c:w val="0.86086076876260031"/>
          <c:h val="0.8608607687626003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 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B35-49A3-A4F2-AC672177EDEC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B35-49A3-A4F2-AC672177ED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Store</c:v>
                </c:pt>
                <c:pt idx="1">
                  <c:v>Online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24.24</c:v>
                </c:pt>
                <c:pt idx="1">
                  <c:v>8.76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35-49A3-A4F2-AC672177EDEC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overlay val="0"/>
      <c:spPr>
        <a:solidFill>
          <a:srgbClr val="FFFFFF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6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0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30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6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02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3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8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95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28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3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-Fai/Capstone_3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532120"/>
            <a:ext cx="12191695" cy="54864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REPORT  ·  FY2022 - 2025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Northeast Regional Sales Performance Analysis: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2022–2025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8E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and store performance across the Northeast region — EmporiUm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$33.00M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736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regional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~196.898k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4736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Maryland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46720" y="4736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state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>
                    <a:lumMod val="75000"/>
                  </a:schemeClr>
                </a:solidFill>
              </a:rPr>
              <a:t>Northeast Regional Sales Report · 2022–2025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79746-9B4F-4602-6850-40289574CD07}"/>
              </a:ext>
            </a:extLst>
          </p:cNvPr>
          <p:cNvSpPr txBox="1"/>
          <p:nvPr/>
        </p:nvSpPr>
        <p:spPr>
          <a:xfrm>
            <a:off x="7093527" y="5675745"/>
            <a:ext cx="3980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  <a:latin typeface="Amasis MT Pro Medium" panose="020F0502020204030204" pitchFamily="18" charset="0"/>
              </a:rPr>
              <a:t>Presented by: Dimitri Nji</a:t>
            </a:r>
          </a:p>
          <a:p>
            <a:endParaRPr lang="en-US" sz="2800" i="1" dirty="0">
              <a:solidFill>
                <a:schemeClr val="bg1"/>
              </a:solidFill>
              <a:latin typeface="Amasis MT Pro Medium" panose="020F0502020204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Northeast performance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97480" cy="137160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697480" cy="91440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$33.00M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8096" y="2624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97480" cy="137160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97480" cy="91440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~196.898k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30168" y="2624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91072" y="1691640"/>
            <a:ext cx="2697480" cy="137160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91072" y="1691640"/>
            <a:ext cx="2697480" cy="91440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39.06%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92240" y="2624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SHARE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53144" y="1691640"/>
            <a:ext cx="2697480" cy="137160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53144" y="1691640"/>
            <a:ext cx="2697480" cy="91440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36024" y="1947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&amp; Acc.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354312" y="2624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3886200"/>
            <a:ext cx="5440680" cy="1783080"/>
          </a:xfrm>
          <a:prstGeom prst="rect">
            <a:avLst/>
          </a:prstGeom>
          <a:solidFill>
            <a:srgbClr val="EAF4F3"/>
          </a:solidFill>
          <a:ln w="12700">
            <a:solidFill>
              <a:srgbClr val="D9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3886200"/>
            <a:ext cx="91440" cy="1783080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markets drive the region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6968" y="4617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and Massachusetts together generated over 70% of Northeast revenue, making them the strongest performing markets in the region.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81928" y="3886200"/>
            <a:ext cx="5440680" cy="1783080"/>
          </a:xfrm>
          <a:prstGeom prst="rect">
            <a:avLst/>
          </a:prstGeom>
          <a:solidFill>
            <a:srgbClr val="EAF4F3"/>
          </a:solidFill>
          <a:ln w="12700">
            <a:solidFill>
              <a:srgbClr val="D9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81928" y="3886200"/>
            <a:ext cx="91440" cy="1783080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01968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all categories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01968" y="4617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Accessories significantly outperformed every other category, remaining the primary revenue driver for EmporiUm in the Northeast.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demand peaks in back-to-school and holidays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79120" y="1728651"/>
            <a:ext cx="7452360" cy="406908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0" y="20116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6B65"/>
                </a:solidFill>
              </a:rPr>
              <a:t>What this shows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531"/>
                </a:solidFill>
              </a:rPr>
              <a:t>Sales follow a cyclical pattern, with peaks during back-to-school and holiday shopping seasons.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531"/>
                </a:solidFill>
              </a:rPr>
              <a:t>The Northeast maintained consistent revenue across both online and store channels.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531"/>
                </a:solidFill>
              </a:rPr>
              <a:t>Peak periods signal where to focus promotions, staffing, and inventory planning.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51B881C4-9031-80FB-4F3B-63B804E791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2444490"/>
              </p:ext>
            </p:extLst>
          </p:nvPr>
        </p:nvGraphicFramePr>
        <p:xfrm>
          <a:off x="594359" y="1924594"/>
          <a:ext cx="7330441" cy="3735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concentrated in Maryland and Massachusetts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577840" cy="406908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Northeast revenue by state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631689260"/>
              </p:ext>
            </p:extLst>
          </p:nvPr>
        </p:nvGraphicFramePr>
        <p:xfrm>
          <a:off x="868680" y="228600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783080"/>
            <a:ext cx="5193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46520" y="1783080"/>
            <a:ext cx="91440" cy="841248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20840" y="178308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98280" y="178308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$12.89M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835640" y="178308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39.06%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2734056"/>
            <a:ext cx="5193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46520" y="2734056"/>
            <a:ext cx="91440" cy="841248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0840" y="273405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98280" y="2734056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$9.92M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835640" y="2734056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30.06%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46520" y="3685032"/>
            <a:ext cx="5193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46520" y="3685032"/>
            <a:ext cx="91440" cy="841248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20840" y="368503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098280" y="3685032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$7.42M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835640" y="3685032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46520" y="4636008"/>
            <a:ext cx="5193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46520" y="4636008"/>
            <a:ext cx="91440" cy="841248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20840" y="463600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098280" y="463600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$2.76M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0835640" y="4636008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8.38%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FC3C04FC-74A6-9D4A-813F-CDB34CE51D53}"/>
              </a:ext>
            </a:extLst>
          </p:cNvPr>
          <p:cNvSpPr/>
          <p:nvPr/>
        </p:nvSpPr>
        <p:spPr>
          <a:xfrm>
            <a:off x="6501384" y="5577840"/>
            <a:ext cx="5193792" cy="720090"/>
          </a:xfrm>
          <a:prstGeom prst="roundRect">
            <a:avLst>
              <a:gd name="adj" fmla="val 22437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Maryland and Massachusetts are the strongest revenue markets. Their store and online strategies can be used as benchmarks for improving New Jersey and Maine.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endParaRPr lang="en-US" sz="1200" i="1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974552"/>
                  </p:ext>
                </p:extLst>
              </p:nvPr>
            </p:nvGraphicFramePr>
            <p:xfrm>
              <a:off x="721012" y="1170880"/>
              <a:ext cx="8880188" cy="533572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80"/>
                <a:ext cx="8880188" cy="533572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 7">
            <a:extLst>
              <a:ext uri="{FF2B5EF4-FFF2-40B4-BE49-F238E27FC236}">
                <a16:creationId xmlns:a16="http://schemas.microsoft.com/office/drawing/2014/main" id="{3DB77EF5-70A8-F984-E820-70C714D39A6E}"/>
              </a:ext>
            </a:extLst>
          </p:cNvPr>
          <p:cNvSpPr/>
          <p:nvPr/>
        </p:nvSpPr>
        <p:spPr>
          <a:xfrm>
            <a:off x="9884664" y="1588663"/>
            <a:ext cx="197281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Clear category leader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84CA4BB-9CAD-AEDB-C056-7DCF80E182A7}"/>
              </a:ext>
            </a:extLst>
          </p:cNvPr>
          <p:cNvSpPr/>
          <p:nvPr/>
        </p:nvSpPr>
        <p:spPr>
          <a:xfrm>
            <a:off x="10012680" y="2054793"/>
            <a:ext cx="1844802" cy="754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Technology &amp; Accessories generates the largest share of category revenue, outpacing every other product group.</a:t>
            </a:r>
            <a:endParaRPr lang="en-US" sz="12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5E7884A-75ED-F4A1-AD25-7851EBE6FBCF}"/>
              </a:ext>
            </a:extLst>
          </p:cNvPr>
          <p:cNvSpPr/>
          <p:nvPr/>
        </p:nvSpPr>
        <p:spPr>
          <a:xfrm>
            <a:off x="9884664" y="4017056"/>
            <a:ext cx="1972818" cy="1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Decision impact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21D40B-0090-B2F4-E2D6-0B54B978A3B9}"/>
              </a:ext>
            </a:extLst>
          </p:cNvPr>
          <p:cNvSpPr/>
          <p:nvPr/>
        </p:nvSpPr>
        <p:spPr>
          <a:xfrm>
            <a:off x="9776841" y="3837004"/>
            <a:ext cx="2590800" cy="21625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Concentrate promotions, product availability, and inventory planning on high-performing categories while reviewing lower-performing categories for assortment, pricing, or marketing adjustments.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5316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169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BOOKS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Best-selling general audience titles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64240" cy="109728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20824"/>
            <a:ext cx="640080" cy="640080"/>
          </a:xfrm>
          <a:prstGeom prst="ellipse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020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09928" y="19385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 Potter and the Sorcerer's Stone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09928" y="23957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J.K. Rowling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2249424"/>
            <a:ext cx="2468880" cy="201168"/>
          </a:xfrm>
          <a:prstGeom prst="rect">
            <a:avLst/>
          </a:prstGeom>
          <a:solidFill>
            <a:srgbClr val="D9E6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60920" y="2249424"/>
            <a:ext cx="2468880" cy="201168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0" y="1737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$16.427K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3880" y="3099816"/>
            <a:ext cx="11064240" cy="109728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" y="3346704"/>
            <a:ext cx="640080" cy="640080"/>
          </a:xfrm>
          <a:prstGeom prst="ellipse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09928" y="32644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Tipping Point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09928" y="37216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Malcom </a:t>
            </a:r>
            <a:r>
              <a:rPr lang="en-US" sz="1200" i="1" dirty="0" err="1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Gladwel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3575304"/>
            <a:ext cx="2468880" cy="201168"/>
          </a:xfrm>
          <a:prstGeom prst="rect">
            <a:avLst/>
          </a:prstGeom>
          <a:solidFill>
            <a:srgbClr val="D9E6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60920" y="3575304"/>
            <a:ext cx="1961167" cy="201168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0" y="30632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$12.956K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79120" y="4389120"/>
            <a:ext cx="11064240" cy="109728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1248" y="4672584"/>
            <a:ext cx="640080" cy="640080"/>
          </a:xfrm>
          <a:prstGeom prst="ellipse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" y="46725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09928" y="45902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Mice and Men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09928" y="50474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John Steinbeck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60920" y="4901184"/>
            <a:ext cx="2468880" cy="201168"/>
          </a:xfrm>
          <a:prstGeom prst="rect">
            <a:avLst/>
          </a:prstGeom>
          <a:solidFill>
            <a:srgbClr val="D9E6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60920" y="4901184"/>
            <a:ext cx="1712288" cy="201168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0" y="4389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$12.698K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VS ONLINE SALES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balanced, two-channel business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3387852" cy="2130552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" y="1826514"/>
            <a:ext cx="3387852" cy="109728"/>
          </a:xfrm>
          <a:prstGeom prst="rect">
            <a:avLst/>
          </a:prstGeom>
          <a:solidFill>
            <a:srgbClr val="0A6B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103120"/>
            <a:ext cx="12275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28049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$24.24M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50976" y="3346704"/>
            <a:ext cx="2089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73.45% of total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3712464"/>
            <a:ext cx="2786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in-store demand — focus on customer experience and foot traffic.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78428" y="1920240"/>
            <a:ext cx="2695194" cy="2194560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60140" y="1783080"/>
            <a:ext cx="2713482" cy="109728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2148840"/>
            <a:ext cx="113157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53508" y="2468880"/>
            <a:ext cx="238734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$8.76M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453508" y="3236976"/>
            <a:ext cx="22216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26.55% of total revenue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6275" y="3621024"/>
            <a:ext cx="23873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digital revenue — invest in marketing, website, and shipping.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1510" y="4617720"/>
            <a:ext cx="6938010" cy="457200"/>
          </a:xfrm>
          <a:prstGeom prst="rect">
            <a:avLst/>
          </a:prstGeom>
          <a:solidFill>
            <a:srgbClr val="0A6B6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536942" y="4617720"/>
            <a:ext cx="4121658" cy="457200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73.45%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4626864"/>
            <a:ext cx="1943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26.55%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257800"/>
            <a:ext cx="1078992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this channel balance helps EmporiUm allocate resources and make informed strategic decisions. </a:t>
            </a:r>
            <a:r>
              <a:rPr lang="en-US" sz="1200" dirty="0">
                <a:solidFill>
                  <a:srgbClr val="334155"/>
                </a:solidFill>
              </a:rPr>
              <a:t>Store sales remain slightly higher, but online sales are still a major share of the region. </a:t>
            </a:r>
            <a:r>
              <a:rPr lang="en-US" sz="1200" dirty="0" err="1">
                <a:solidFill>
                  <a:srgbClr val="334155"/>
                </a:solidFill>
              </a:rPr>
              <a:t>EmporiUm</a:t>
            </a:r>
            <a:r>
              <a:rPr lang="en-US" sz="1200" dirty="0">
                <a:solidFill>
                  <a:srgbClr val="334155"/>
                </a:solidFill>
              </a:rPr>
              <a:t> should continue supporting both in-store experience and digital growth.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669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graphicFrame>
        <p:nvGraphicFramePr>
          <p:cNvPr id="31" name="Chart 0">
            <a:extLst>
              <a:ext uri="{FF2B5EF4-FFF2-40B4-BE49-F238E27FC236}">
                <a16:creationId xmlns:a16="http://schemas.microsoft.com/office/drawing/2014/main" id="{1A24BC52-43A2-EC2D-717A-BFB0DD98B7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617992"/>
              </p:ext>
            </p:extLst>
          </p:nvPr>
        </p:nvGraphicFramePr>
        <p:xfrm>
          <a:off x="7395212" y="546354"/>
          <a:ext cx="3910964" cy="37970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40680" cy="1298448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66544"/>
            <a:ext cx="603504" cy="603504"/>
          </a:xfrm>
          <a:prstGeom prst="ellipse">
            <a:avLst/>
          </a:prstGeom>
          <a:solidFill>
            <a:srgbClr val="EAF4F3"/>
          </a:solidFill>
          <a:ln w="15875">
            <a:solidFill>
              <a:srgbClr val="0E8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0665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91056" y="1901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seasonal demand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91056" y="228600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remained relatively stable across the period, with identifiable back-to-school and holiday peaks.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81928" y="1737360"/>
            <a:ext cx="5440680" cy="1298448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56248" y="2066544"/>
            <a:ext cx="603504" cy="603504"/>
          </a:xfrm>
          <a:prstGeom prst="ellipse">
            <a:avLst/>
          </a:prstGeom>
          <a:solidFill>
            <a:srgbClr val="EAF4F3"/>
          </a:solidFill>
          <a:ln w="15875">
            <a:solidFill>
              <a:srgbClr val="0E8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56248" y="20665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06056" y="1901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concentration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06056" y="228600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number of product categories generate the majority of revenue, led by Technology &amp; Accessories.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36976"/>
            <a:ext cx="5440680" cy="1298448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" y="3566160"/>
            <a:ext cx="603504" cy="603504"/>
          </a:xfrm>
          <a:prstGeom prst="ellipse">
            <a:avLst/>
          </a:prstGeom>
          <a:solidFill>
            <a:srgbClr val="EAF4F3"/>
          </a:solidFill>
          <a:ln w="15875">
            <a:solidFill>
              <a:srgbClr val="0E8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35661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91056" y="3401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variation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91056" y="378561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varies across the four Northeast states, concentrated in Maryland and Massachusetts.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1928" y="3236976"/>
            <a:ext cx="5440680" cy="1298448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56248" y="3566160"/>
            <a:ext cx="603504" cy="603504"/>
          </a:xfrm>
          <a:prstGeom prst="ellipse">
            <a:avLst/>
          </a:prstGeom>
          <a:solidFill>
            <a:srgbClr val="EAF4F3"/>
          </a:solidFill>
          <a:ln w="15875">
            <a:solidFill>
              <a:srgbClr val="0E8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56248" y="35661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06056" y="3401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bestsellers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06056" y="378561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book titles consistently rank among the highest-selling products.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736592"/>
            <a:ext cx="5440680" cy="1298448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  <a:effectLst>
            <a:outerShdw blurRad="88900" dist="38100" dir="5400000" algn="bl" rotWithShape="0">
              <a:srgbClr val="9AB0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1248" y="5065776"/>
            <a:ext cx="603504" cy="603504"/>
          </a:xfrm>
          <a:prstGeom prst="ellipse">
            <a:avLst/>
          </a:prstGeom>
          <a:solidFill>
            <a:srgbClr val="EAF4F3"/>
          </a:solidFill>
          <a:ln w="15875">
            <a:solidFill>
              <a:srgbClr val="0E8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1248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B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91056" y="4901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Two-channel strength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91056" y="528523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online and store sales play an important role in overall regional performance.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81928" y="4736592"/>
            <a:ext cx="5440680" cy="1298448"/>
          </a:xfrm>
          <a:prstGeom prst="rect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81928" y="4736592"/>
            <a:ext cx="91440" cy="1298448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47688" y="4736592"/>
            <a:ext cx="4800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$33.0M total revenue across ~197K transactions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786384"/>
          </a:xfrm>
          <a:prstGeom prst="rect">
            <a:avLst/>
          </a:prstGeom>
          <a:solidFill>
            <a:srgbClr val="EAF4F3"/>
          </a:solidFill>
          <a:ln w="12700">
            <a:solidFill>
              <a:srgbClr val="D9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94360" cy="786384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ahead of peaks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sales trend to Increase inventory before known peak sales periods to avoid stock shortages.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88336"/>
            <a:ext cx="11064240" cy="786384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594360" cy="786384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68833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winners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688336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Product Availability and Focus marketing on the highest-performing categories and best-selling books.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93592"/>
            <a:ext cx="11064240" cy="786384"/>
          </a:xfrm>
          <a:prstGeom prst="rect">
            <a:avLst/>
          </a:prstGeom>
          <a:solidFill>
            <a:srgbClr val="EAF4F3"/>
          </a:solidFill>
          <a:ln w="12700">
            <a:solidFill>
              <a:srgbClr val="D9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3593592"/>
            <a:ext cx="594360" cy="786384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59359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59359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lagging states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3593592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lower-performing states, such as Maine, to identify  growth opportunities.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64240" cy="786384"/>
          </a:xfrm>
          <a:prstGeom prst="rect">
            <a:avLst/>
          </a:prstGeom>
          <a:solidFill>
            <a:srgbClr val="F5FAF9"/>
          </a:solidFill>
          <a:ln w="12700">
            <a:solidFill>
              <a:srgbClr val="D9E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" y="4498848"/>
            <a:ext cx="594360" cy="786384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44988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449884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channels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449884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Store experience while continuing  monitoring online vs store sales to allocate resources effectively.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404104"/>
            <a:ext cx="11064240" cy="786384"/>
          </a:xfrm>
          <a:prstGeom prst="rect">
            <a:avLst/>
          </a:prstGeom>
          <a:solidFill>
            <a:srgbClr val="EAF4F3"/>
          </a:solidFill>
          <a:ln w="12700">
            <a:solidFill>
              <a:srgbClr val="D9E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66928" y="5404104"/>
            <a:ext cx="594360" cy="786384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540410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71600" y="540410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with history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5404104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sales trends to improve demand forecasting and inventory planning.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E25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bestsellers for displays, bundles, restocking decisions and cross-selling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1887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Positioned for continued growth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combines online and store data to give management a clear view of Northeast performance — sales trends, customer preferences, category performance, and state-level contributions — to support data-driven decisions.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429000"/>
            <a:ext cx="3429000" cy="1417320"/>
          </a:xfrm>
          <a:prstGeom prst="rect">
            <a:avLst/>
          </a:prstGeom>
          <a:solidFill>
            <a:srgbClr val="1F3252"/>
          </a:solidFill>
          <a:ln w="12700">
            <a:solidFill>
              <a:srgbClr val="2E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3429000"/>
            <a:ext cx="3429000" cy="91440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$33.0M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5156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regional revenue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429000"/>
            <a:ext cx="3429000" cy="1417320"/>
          </a:xfrm>
          <a:prstGeom prst="rect">
            <a:avLst/>
          </a:prstGeom>
          <a:solidFill>
            <a:srgbClr val="1F3252"/>
          </a:solidFill>
          <a:ln w="12700">
            <a:solidFill>
              <a:srgbClr val="2E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3429000"/>
            <a:ext cx="3429000" cy="91440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66344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Markets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Maryland &amp; Massachusetts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3429000"/>
            <a:ext cx="3429000" cy="1417320"/>
          </a:xfrm>
          <a:prstGeom prst="rect">
            <a:avLst/>
          </a:prstGeom>
          <a:solidFill>
            <a:srgbClr val="1F3252"/>
          </a:solidFill>
          <a:ln w="12700">
            <a:solidFill>
              <a:srgbClr val="2E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01000" y="3429000"/>
            <a:ext cx="3429000" cy="91440"/>
          </a:xfrm>
          <a:prstGeom prst="rect">
            <a:avLst/>
          </a:prstGeom>
          <a:solidFill>
            <a:srgbClr val="DDA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&amp; Acc.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7532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 &amp;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8E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 driver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212080"/>
            <a:ext cx="10607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E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dashboard gives </a:t>
            </a:r>
            <a:r>
              <a:rPr lang="en-US" sz="1500" i="1" dirty="0" err="1">
                <a:solidFill>
                  <a:srgbClr val="8E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EmporiUm</a:t>
            </a:r>
            <a:r>
              <a:rPr lang="en-US" sz="1500" i="1" dirty="0">
                <a:solidFill>
                  <a:srgbClr val="8E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practical tool for tracking sales, planning inventory, focusing promotions, and making better regional decisions.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E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9507470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47671-0A8E-0D19-FFAC-0BBB3126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Github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4BCA0D-5C75-9C76-45B1-3D6B95BD1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1456" y="505157"/>
            <a:ext cx="4087153" cy="5725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C3B74C-C2F2-49B7-9615-B7541512277E}"/>
              </a:ext>
            </a:extLst>
          </p:cNvPr>
          <p:cNvSpPr txBox="1"/>
          <p:nvPr/>
        </p:nvSpPr>
        <p:spPr>
          <a:xfrm>
            <a:off x="6605756" y="5327752"/>
            <a:ext cx="3528145" cy="657793"/>
          </a:xfrm>
          <a:custGeom>
            <a:avLst/>
            <a:gdLst>
              <a:gd name="csX0" fmla="*/ 0 w 3481430"/>
              <a:gd name="csY0" fmla="*/ 0 h 646331"/>
              <a:gd name="csX1" fmla="*/ 3481430 w 3481430"/>
              <a:gd name="csY1" fmla="*/ 0 h 646331"/>
              <a:gd name="csX2" fmla="*/ 3481430 w 3481430"/>
              <a:gd name="csY2" fmla="*/ 646331 h 646331"/>
              <a:gd name="csX3" fmla="*/ 0 w 3481430"/>
              <a:gd name="csY3" fmla="*/ 646331 h 646331"/>
              <a:gd name="csX4" fmla="*/ 0 w 3481430"/>
              <a:gd name="csY4" fmla="*/ 0 h 646331"/>
              <a:gd name="csX0" fmla="*/ 46140 w 3481430"/>
              <a:gd name="csY0" fmla="*/ 29361 h 646331"/>
              <a:gd name="csX1" fmla="*/ 3481430 w 3481430"/>
              <a:gd name="csY1" fmla="*/ 0 h 646331"/>
              <a:gd name="csX2" fmla="*/ 3481430 w 3481430"/>
              <a:gd name="csY2" fmla="*/ 646331 h 646331"/>
              <a:gd name="csX3" fmla="*/ 0 w 3481430"/>
              <a:gd name="csY3" fmla="*/ 646331 h 646331"/>
              <a:gd name="csX4" fmla="*/ 46140 w 3481430"/>
              <a:gd name="csY4" fmla="*/ 29361 h 646331"/>
              <a:gd name="csX0" fmla="*/ 0 w 3435290"/>
              <a:gd name="csY0" fmla="*/ 29361 h 646331"/>
              <a:gd name="csX1" fmla="*/ 3435290 w 3435290"/>
              <a:gd name="csY1" fmla="*/ 0 h 646331"/>
              <a:gd name="csX2" fmla="*/ 3435290 w 3435290"/>
              <a:gd name="csY2" fmla="*/ 646331 h 646331"/>
              <a:gd name="csX3" fmla="*/ 16778 w 3435290"/>
              <a:gd name="csY3" fmla="*/ 625358 h 646331"/>
              <a:gd name="csX4" fmla="*/ 0 w 3435290"/>
              <a:gd name="csY4" fmla="*/ 29361 h 646331"/>
              <a:gd name="csX0" fmla="*/ 108213 w 3543503"/>
              <a:gd name="csY0" fmla="*/ 29361 h 646331"/>
              <a:gd name="csX1" fmla="*/ 3543503 w 3543503"/>
              <a:gd name="csY1" fmla="*/ 0 h 646331"/>
              <a:gd name="csX2" fmla="*/ 3543503 w 3543503"/>
              <a:gd name="csY2" fmla="*/ 646331 h 646331"/>
              <a:gd name="csX3" fmla="*/ 124991 w 3543503"/>
              <a:gd name="csY3" fmla="*/ 625358 h 646331"/>
              <a:gd name="csX4" fmla="*/ 108213 w 3543503"/>
              <a:gd name="csY4" fmla="*/ 29361 h 646331"/>
              <a:gd name="csX0" fmla="*/ 65179 w 3563387"/>
              <a:gd name="csY0" fmla="*/ 12583 h 646331"/>
              <a:gd name="csX1" fmla="*/ 3563387 w 3563387"/>
              <a:gd name="csY1" fmla="*/ 0 h 646331"/>
              <a:gd name="csX2" fmla="*/ 3563387 w 3563387"/>
              <a:gd name="csY2" fmla="*/ 646331 h 646331"/>
              <a:gd name="csX3" fmla="*/ 144875 w 3563387"/>
              <a:gd name="csY3" fmla="*/ 625358 h 646331"/>
              <a:gd name="csX4" fmla="*/ 65179 w 3563387"/>
              <a:gd name="csY4" fmla="*/ 12583 h 646331"/>
              <a:gd name="csX0" fmla="*/ 3122 w 3501330"/>
              <a:gd name="csY0" fmla="*/ 12583 h 667303"/>
              <a:gd name="csX1" fmla="*/ 3501330 w 3501330"/>
              <a:gd name="csY1" fmla="*/ 0 h 667303"/>
              <a:gd name="csX2" fmla="*/ 3501330 w 3501330"/>
              <a:gd name="csY2" fmla="*/ 646331 h 667303"/>
              <a:gd name="csX3" fmla="*/ 217041 w 3501330"/>
              <a:gd name="csY3" fmla="*/ 667303 h 667303"/>
              <a:gd name="csX4" fmla="*/ 3122 w 3501330"/>
              <a:gd name="csY4" fmla="*/ 12583 h 667303"/>
              <a:gd name="csX0" fmla="*/ 76076 w 3574284"/>
              <a:gd name="csY0" fmla="*/ 12583 h 696665"/>
              <a:gd name="csX1" fmla="*/ 3574284 w 3574284"/>
              <a:gd name="csY1" fmla="*/ 0 h 696665"/>
              <a:gd name="csX2" fmla="*/ 3574284 w 3574284"/>
              <a:gd name="csY2" fmla="*/ 646331 h 696665"/>
              <a:gd name="csX3" fmla="*/ 138993 w 3574284"/>
              <a:gd name="csY3" fmla="*/ 696665 h 696665"/>
              <a:gd name="csX4" fmla="*/ 76076 w 3574284"/>
              <a:gd name="csY4" fmla="*/ 12583 h 696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74284" h="696665">
                <a:moveTo>
                  <a:pt x="76076" y="12583"/>
                </a:moveTo>
                <a:lnTo>
                  <a:pt x="3574284" y="0"/>
                </a:lnTo>
                <a:lnTo>
                  <a:pt x="3574284" y="646331"/>
                </a:lnTo>
                <a:lnTo>
                  <a:pt x="138993" y="696665"/>
                </a:lnTo>
                <a:cubicBezTo>
                  <a:pt x="-135048" y="254718"/>
                  <a:pt x="81669" y="211249"/>
                  <a:pt x="76076" y="12583"/>
                </a:cubicBez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Capstone_3</a:t>
            </a:r>
            <a:endParaRPr lang="en-US" dirty="0"/>
          </a:p>
          <a:p>
            <a:pPr algn="ctr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552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4740c6f3-e689-4786-9fbf-e626f69c80b2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A0D1FF&quot;"/>
    <we:property name="bookmark" value="&quot;H4sIAAAAAAAAA+1XbU/bQAz+K9V9LlXemrZ8g4I0aYDYipCmqZp8idMeHLnucunIUP/7fJem0FJexmAfxvqpsR378WOffblhqShmEqoTuEK2y/aVurwCfdnyWZvltSzEftKP/KAXBEEMaeSh3yWtmhmh8oLt3jADeoLmXBQlSOuIhF8Zz7Iwhr7vx4ixDxDyXp+N2wykPIWJtclAFthmM9SFykGKn1i7IJXRJS7aDK9nUmmwgUYGDNpgczKnZwLmd0LCAYkRcxxhYmpplkHq+dxD7oVhHHucewMyK2oDh3eriXXtwg9VbkDkFMbKQh4ghy5w9AcYDSDueanzIaRZmvDq8HqmKWdioppZyoaEdaK0SEAyl4XGogZ9w4ZKllfu3+GafKRKneBnzJwqN8JU5OlUq7RMTMEWRAc9EFlOvoxQOflU/RhqJAkh8xbtFYy9dA55QtJNDMcIRanxuSD2pGydKG2m9JppjUDiPTxnyoC8o1qHNCZJIfKJXFb4luyzGmkiy4LoxHQf9HAK2tgG4xdoM9+9obeVTlHvV47kA6GbagftjQTeOrPFuOk4Mrm401OrgliEr17j8cLqYkxTDweel2DCe5EXJXH4F3vxGWQ5YcsV9R9rzJqqd9ebv1vzulG3zv6nGvXBpvggUINOptURzlHeR77S31c1MM9Bi3qNuCz/NPvltlx5ZetV0ZAX4OhvHditZV+5A5JZYetWYNXL1NgXBP3o0XnsOL8noj6VdBLxP1fP4eqYbjTTlw3k90TTAWy7Tj25IqQozEiKhJpxYzFsHcbnIEt3Q35f5C4H27i+1ZOf5k5fU6GVrD8blvTQKpP2zVr7vURdUQ7OYgv2ziayziqDzjqmjsNB3kVBi1DCrLBVtp8bJErR8fMRq+IFq/JI0Zyx0c6AS/wWBh6GnGc7PMz6O1Ey6O9AmnZ30q4XDbo86vZS2FylDUkW3qnI8wabPamvyEEzOx+g4S1D16NoW+BXDmQP89YwJNRKGVu6puDNkcxLKd0Vho5u4GVhlKT9LMDeIB6EPXQ3mEcngcFrw9X1+hhwvw3JLx/tfOV3DwAA&quot;"/>
    <we:property name="creatorSessionId" value="&quot;c6e6d40d-540f-4298-9d7d-e0f67e86bd4e&quot;"/>
    <we:property name="creatorTenantId" value="&quot;bbce5c37-f181-4d0c-9310-7f877336e1cf&quot;"/>
    <we:property name="creatorUserId" value="&quot;1003200509D4BE57&quot;"/>
    <we:property name="datasetId" value="&quot;8a66689e-8401-4c74-8c30-d817e9f76341&quot;"/>
    <we:property name="embedUrl" value="&quot;/reportEmbed?reportId=a0efa836-64e0-49b9-88ec-2da2b18aebfa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initialStateBookmark" value="&quot;H4sIAAAAAAAAA+1X30/bMBD+Vyo/lypt2rTlDQrSJH6MrQhpmqrpHF+oNxNntsPIUP/3nZ2m0NIxtrE9jPFC8vly9913Z597y4S0hYLqFK6Q7bJ9rT9dgfnU6rI2y5fY69dHJ3tvjz6c7p0cEqwLJ3Vu2e4tc2Au0V1IW4LyHgh8P2szUOoMLv1bBspimxVorM5Bya9YG9OSMyUu2gxvCqUNeJdTBw6922syp3eK3e3EFBFSJ69xiqmr0SwDEXV5hDyK4ySJOI/GZGZrg8Bsq4l3HcJPdO5A5hTGYzHvIYcBcOyOsT+GZBiJ4EMqtzTh1eFNYSg7yrkqvCoT4nqpjUxBsZCFQVuTvmUTrcqr8HS4hk91aVJ8i1lYyp10FXk6M1qUqbNsQXLQC4kV8GWEKuBz/WVikBBiFi3aKxp74hrylNBNDicItjT4VBJ7SrVOtXFz+sy1pqDwAZ9z7UDdW1qnNCPEyvxSLSt8J/Z5zTRVpSU5UeyDmczBON9K/CP6zHdv6WttBJr9Koh8IE1T7V57I4E/ndli1nQcmXy811OrgniGz17j2cKvJShEhOMoSjHlw37UT5P4L/biE8QKYCsU9R9rzFqqF9ebP1vzulF5lsUJjLrdBDHpAsR8OPpho363KV5JNGDSeXWM16geMl+tP1xqaF6AkfUYCVn+bvbLgbjyytarYiC3EORvHfip5T+5R5J5sHUH+OVlauwdgnl06zy2nV+SUG9K2on4X6unaHVCN5r5rx3IL0mmA9h2nfrhiFDSuqmSKTXjxmDYehhfgCrDXfhlibs82Gb1rZ78NHf6WgqjVXhq5KFRpvyX9ernEk1FOQSLLdw7m8w6qww665w6gQd5l5YGoYLC+ir7nxsECQz6HGFlf2FUHms6Z3y0c+AKP8S9CGPOsx0eZ6Odfjoe7YAQgx0xiPrjAe8PhgI2R2kjkqd3JvO84eZ36jNq0Jyd35HhT4auj6JtgZ85kN/MW8MQaLR2vnRNwZstmZdKhSsMbd1elMX9VIyyHg7HyTgeYrjBPHoSOLxxXN+sHwPh7z7CrpB+GPsHXTpbQIpnkGNouKJuBYnBLuwTgWL5bPz/Y0mFq0MH1j4qZcVCDCIjqfWeaF9f1hbfANd+Lk3mDwAA&quot;"/>
    <we:property name="isFiltersActionButtonVisible" value="true"/>
    <we:property name="isVisualContainerHeaderHidden" value="false"/>
    <we:property name="pageDisplayName" value="&quot;Page 3&quot;"/>
    <we:property name="reportEmbeddedTime" value="&quot;2026-06-25T17:26:16.172Z&quot;"/>
    <we:property name="reportName" value="&quot;sample material&quot;"/>
    <we:property name="reportState" value="&quot;CONNECTED&quot;"/>
    <we:property name="reportUrl" value="&quot;/links/aXhZHWoS0x?ctid=bbce5c37-f181-4d0c-9310-7f877336e1cf&amp;pbi_source=linkShare&amp;bookmarkGuid=2d530116-054a-4dfa-a36c-8d2c788ab8a8&amp;fromEntryPoint=shar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c51f33-d939-4433-9ecd-d2d55559c84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A0D1FF&quot;"/>
    <we:property name="bookmark" value="&quot;H4sIAAAAAAAAA+1XS3PbNhD+KxpccpE9fIvwzXHcx9RxncrjTqeT6QDE0kICEyoIOlY9+u9dgKQk6xXFcU6JDhpysdz99ttdYPFIhKynis0u2R2QE/Ja6493zHwchGRIqlZGQ54nWchTyJJgxCmlIsFVPbVSVzU5eSSWmVuwN7JumHKGUPg3ScokEhmN04AVQZ7ERShK8n5ImFJX7NbplEzVMCRTMLWumJL/QWsCl6xpYD4k8DBV2jDnaGyZBefsHtXxHYGFxzHiYIWV9zCGwrbSNMtYlEAaJQG6jEdxQAHV6lbB492q4kx792e6skxW6MbJmIiCLOVUpEUOaS6iIomdvJTKdip8dv4wNRjzY08ZUAphkYtREmQAQULDYoQY7GzqVs8wklttZMEUCltDzs5NH1k0JD8ZfectdolhqHleWWln+HKq1OBSGzsBVtvBmClkc0iuvfVgjhz/OQED/nMMRsiWmUfyq/93YKGuWzK8imru1lbc21g3poA/oFy+eCBzTMyV0Zg2D6aLZoZy9HzDVOPzj4YvJAaGMbrQnBiVX/0MlZO9ctrv5/jXZnnF7UFw9lKxG+CQTPSnMwMoEeQknA8XGSsZVkTEaRYAz/MsjVmW78rY1+B1DTY4bexEmw2grXgDZrACM4+jiPKUQ5jmGVZtSgu6hHmtp5cHV1Td8H8bQFqG68D7BXx+1z/ss8RXa/NJgMuiHD6zksegsHGfUad8nV0PDN0qILjQgSklKEGco9+NAPN65j29kabfTqJ1dt4i0sbAs9vlWlumFoXqPGPWsBbDuVNsI49W6DqE3G/b8XuZ9AEwrmD394tCm89foOH3NdATYLubKMiKICshobivBxEHQcNg2USn4p5VBX6zjvOwzH/JzvS0FtYBO6ZqWd2q7lhcnlBt3vHYRd7PH9xZzD9gwbrDCL/RL1rJz48HA8DlrWPAzvPzczn4ReLpYYrJ7ALuQW1CX6xvLvU4b5iR7UTRFejXhd+16cIqecqIYVXNfAYGb9wA4z5ZAUmccLAUuOUuNPIXsB2HwQGn0vdE1LuGGXfg/eDq81y9xeF2spepH73nlzbHxQN2ZCVrO1aywGJc25TbWwqi+7ByD1kMy98Xud3G1k0CaKe/3rVUGK3aG2RHD04Yyn3ZrvpRAmPwGluwH68jO15EcPwU07HHgdZljSOIYtPaZdndPFEkwPPzG8y+YGRacHqhcZ9x3vxo9E8cBRBzXh7xuMyPkoLmR0yI9EikeDVMeZKOxMac2JPk4F3JquqxuU59QQ76vXMHDd/SdbsVbXP8wo5cM291g0KjtXWp6xPet2TVKNVNMJxHIuGUBiwfMZqUIxr65to/m8GD5XptNvO/VQm5A3PrjenG1lNWwBWr2jF+2paCBK/n+0Q44P7ZX+62XK9dVMT7QDCym8oP0PeRzuf/AzJc8poOEgAA&quot;"/>
    <we:property name="creatorSessionId" value="&quot;f3bc387b-3680-4a24-a0a6-e870ad7afb19&quot;"/>
    <we:property name="creatorTenantId" value="&quot;bbce5c37-f181-4d0c-9310-7f877336e1cf&quot;"/>
    <we:property name="creatorUserId" value="&quot;1003200509D4BE57&quot;"/>
    <we:property name="datasetId" value="&quot;8a66689e-8401-4c74-8c30-d817e9f76341&quot;"/>
    <we:property name="embedUrl" value="&quot;/reportEmbed?reportId=a0efa836-64e0-49b9-88ec-2da2b18aebfa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initialStateBookmark" value="&quot;H4sIAAAAAAAAA+1XS3PbOAz+Kx5eelE8elvKzU3T3Z08W2eys9PpdCgJstnSopei0ngz+u8LUpLfdt00PbU+eCQQAj58AEjwiWSsnHE6v6ZTIKfktRBfplR+6TnEIkUru7m5uBq+v/h0Pbw6R7GYKSaKkpw+EUXlGNQ9KyvKtQUUfvhoEcr5LR3rt5zyEiwyA1mKgnL2HzTKuKRkBbVF4HHGhaTa5EhRBdrsA6rjO/p2+h56pKliDzCCVDXSIAyp60Pg+nbqZN7As2NAtbJRMMh2qmjTxv2ZKBRlBbrRMpq5dhgkcRakEQRR5qa+p+U546pVSebnjzOJ0T11rEAcg5NG2cC3QwDbj510gBjUfKZXzzCSsZAspRyFjSFt576LzLXIWymmxmLLPUXN80IxNceXIee9ayHVBGipeiPKkU2L3Bnrdo0c/z0BCeZzDCZjDTNP5C/zr8FCWTZkGBVeTTdW9NtIVDKF95AvXwyQGhNzKwWmzYBpo5mjHD3fU16ZTKPhS4aBYYw6NC1G5Vd/QKFlr7T2xxr/miyvuD0KzkEq9gO0yER8PZOAkoycOrW1yFhOsSLcJA5tSKIoDDwaRvsy9iN4dQ/1hpWaCLkFtBFvwbRXYEae68ZJkIATRCFWbRCn8RLmnZhdH11RZZX8WwHSYm0C7xbw+V33cMhSslqbawEui9J6ZiWPgGPjPqNOk012DTB0y4HgQgsmZ8Azoh3dyAzk67nx9IbJbjtxN9m5QqSVhGe3y51QlC8KVXvGrGEtOrVWbCJ3V+g6htyf2/EHmTQB0ITD/u8XhVbXL9DwhxpoDdj+JrLD1A5z8GPc1203gSx27GUTDbMHWqT4zSbO4zL/PTvTei1sAtZMlawY8/ZYXJ5QTd7xgEXezx/1qZt8xoLVhxF+I160kp8fDwaAy37uu1kYe4FNUzvyPTxw8/3n57dy8CfD00Omk/klPADfhr5Y317qcN5TyZqJoi3QHwu/bdOFVbLOiKRFSU0Gem/0AKM/WQFJtLC3FOjlNjTyD9A9h8ERp9KvRNS7ikp94P3m6ttcXeFwOznI1O/eM0vb4+IROzJnpRpxlmIxbmzKzS0F0X1euYcshuVfi9x2Y2snAbTTXe8aKqTg5qmjBycMrr9sVs0ogTEYjR3Y+5vI+osI+uuY+gYHWmcljiCczkqdZX3zRFEGhp8LmH/HyLTg9FLgPqO9mdHok+fa4CVJfpJ4eXTip3F0QrMsOMkCvBoGiR8Msq05sSNJw7tlRdFh0536ghx0e+ceGn6m62Yr2uX4hR3pZt7pBoVSCKVT1yW8a8mi4rydYJLEzfwkjm0aDWjs54PYMc11eDaDR5WIjdnM/FYlZApybIyJSpUzmsItLZoxftaUAgOjZ/ok08DNs7nc7bhe66iI8YFgWDuVH6FvIq3r/wGa3DE+8REAAA==&quot;"/>
    <we:property name="isFiltersActionButtonVisible" value="true"/>
    <we:property name="isVisualContainerHeaderHidden" value="false"/>
    <we:property name="pageDisplayName" value="&quot;Page 4&quot;"/>
    <we:property name="reportEmbeddedTime" value="&quot;2026-06-25T16:54:15.647Z&quot;"/>
    <we:property name="reportName" value="&quot;sample material&quot;"/>
    <we:property name="reportState" value="&quot;CONNECTED&quot;"/>
    <we:property name="reportUrl" value="&quot;/links/aXhZHWoS0x?ctid=bbce5c37-f181-4d0c-9310-7f877336e1cf&amp;pbi_source=linkShare&amp;fromEntryPoint=shar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b50b00bd-9641-4e64-a720-1c88442afffb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C4C4C4&quot;"/>
    <we:property name="bookmark" value="&quot;H4sIAAAAAAAAA+1ZbU8jNxD+K5E/B+R43/nG5a6qVO5KG4RUVajy2rPJ3pl16vVSUsR/79jO8ppC4IBGJZ+ymfF6nnnGnvF4L4is27niiy/8FMge+aD1t1Nuvg1GZEiaIIMiFSVlVVVkZZbmcVKkMWr13Na6acneBbHcTMEe123HlZsIhb8TWhUyzgBiBnmUgWS0yMjJkHClDvnUjam4amFI5mBa3XBV/w1hClRZ08HlkMD5XGnDnaGJ5RacsTMcjv8R2Gg3Qhxc2PoMJiBskJaFENkoSfOUlZxmmUwYxWFtGODxrhzipvbmx7qxvG7QjJNVWcI4LUdSjqjMRZSlcezkbd1M1RLw9btHi7mjzMK5LfW5Y6n8iobdTJeX6BDNRhlOkiYxzQqRiJzlmbdSK7s0WC4+nc8NMoi8htn25RlvBEjiCTHQBv8vyI81GG7EbHEAZ+BRfFqtv686NBp5t4tjburAr+6MgPsDg/xXqLyqsbVdOEhKDb5oY2fAWzuYcIXxdP4tl9HVrAi5t4TiI8Oblvs4DD66cLpXboAkTji4Fjj10jXyG3DjBTP919gADpRkj14Or1gao2iqTS0wHu+ZqF86bnAtbblag6vPuNVnDzK13XtetXgeSZ8RYme+27ObbmjL1Q3VbUgnKHkwMSvM6+MZbpDbqbmvImjo6406sdwmC5+M31PA+2T7vry+zpwnvljnkrM8SXmUZFAUIwGJKLbFelust8V6W6w3l6bVxXqNytjaiaoFLsZ1SuMxV53v894XucvEdhJ6U5yn70wDFUar0Pwu6cF2V7k3g/bPDswCffAjVmDfvYts98qD3duYdj0OnL1ux1opPm9dlF3TjCIJnp+fYBHM4ojutFmX0wONecZZO+Klgj8iRiEqy2qnjKp8JxZFvsOlTHZkQuMiKeMkk/zuGa0nycE7rJumx+Z26gty0OfOf6HhNU2HVLTK8Asbcpt5pRkUGq2tC10f8H5LNp1S/ggzJGnMOE9GlHFWlaWMJeOPXzc8VG+etpbWOM9fHbHfNGW9phvh7BgVnFJaidGIsTLNIhaVb8k8QpOdo2N9utcoo/vTqYFpSKn3gDwN4MRqA4HLwVgBb+4iDar9U9011ut+6JrlFR/9r8H/3Lg+cvVKeBruR9e4UF2LCwZkQLiyd9VGgvkQutSPtelvQtnwjjMbwYDLXI832y++2sOuTFJWVRUtBSZDQQsaZax8fkf3WrcbN8rDsy45BDdyqXrmSnkjz0KRYixPgRZFEVHA50SWBWxeUJ595bS50ehVIQwrv9ds1FkhfAL6f1xESt109ruy+euvipdP1E8IskvYPmdfk0NOwUy9w7qz7ZwLOOQNeBjzMEENfpxvzaSLhH827vegxlUcAuEPgmjKf38k3gjGpsZ255EX3MmbeFge3T+fOVdVPR0AAA==&quot;"/>
    <we:property name="creatorSessionId" value="&quot;2b2ca13a-f0c4-43e2-890c-70c9ccd5db0a&quot;"/>
    <we:property name="creatorTenantId" value="&quot;bbce5c37-f181-4d0c-9310-7f877336e1cf&quot;"/>
    <we:property name="creatorUserId" value="&quot;1003200509D4BE57&quot;"/>
    <we:property name="datasetId" value="&quot;9621a9db-0d3b-4799-8840-ed31f5d7d5b4&quot;"/>
    <we:property name="embedUrl" value="&quot;/reportEmbed?reportId=8c47e781-b642-4cfe-a17c-b90c9acdbc97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initialStateBookmark" value="&quot;H4sIAAAAAAAAA+1ZbW/aSBD+K8ifCTI2xjjfKE11Ul6vRJFOp6gae8fgdvFy63UuNOK/3+yunRBCU0rDFRU+YWbWO88887a2HxyWFVMOswuYoHPsvBPiywTkl0bbaTp5Jbu8PD3vfzz9dNE/PyGxmKpM5IVz/OAokCNUN1lRAtc7kPDv26YDnF/BSP9LgRfYdKYoC5EDz76iXUwqJUucNx28n3IhQW85VKBQb3tHy+k/2W63fLIIicrucIiJstI4SpKwHXR7XS8GNwxZ4Lm0rLALDLKVS/TWxvxA5AqynMxoWRoGHrhxm7G2y3qJH3Y7HS0vsnzEK8BP917PppoVhfcqFveaj/gzGdY7zefkkBu2Q9qkG3TcMEqCpOf1QmMl46oyGM9O7qeSuCIG7W59dgd5gswxhEgsrP8Pzh8ZSpDJeHaGd2hQnKzWv1RdSUG8q9kNyMzyK0qZ4MuFVv4RU6PKVaZmGhLnjQsh1RihUI0hcIqn9q/KlMddCXJticTXEvICTBwa73U49S0LIB0tbDwJtLpyzfkLQRrBWPw7kEgLmXPszpuPLA1INBIySyge+0zUnyVIyqUDV2twdU6lPn6VqUPtGdVsM5LOCWIpf9qzRTeEAr6geg7pliSvNmZOfX0wpgJ53prrKUKGPi/MiapMZqYZ71PA62a7X14/dc5bO6zTiHVCxI6HPT9E5rnR94f1a611IHg5yd+wGuyh6PcoTSbyUq2sTSEZyne2Ct9nsj7pec0l5Nt2aX67Tp/YWpBtUnper4tuFEW+i3QdsDjCzU+QO5cFCUhWqXY2C7Q66HppmrpxEscscSPXD71498Kw0A1/s2gseWaD4kfgum6atNueF3dD3/Pj/7NhE0hWaoaWED+2h40adX80kjiyo+4FkB8DOFRComW1MeAI+YtWY1T9iShzZXQfyryKrPurwV/m+vD2jRb5Q7i/n/a8LChhkFmEPzWUdoKBbUyuNbLdTqxuxwMI2q4HXkrdssM82LFj1CsFusYTRaGGPEvo3LjOI8UN8NK8CduuG5b5HgM6IXTBD0KMonaCQRJtPqT26VHg8Lbp8Lbp8LZpl942bbER7xO5VWO7tR9XaJ/604qlQgpurmp66NzA9Z1W+0+JckY+mBUrsLeWkbUePWg9x9QyOGj3rKAxyGFa6Cjrrz4kYmj4OcXZJoPyTFCf0dauIeb4yfdc9OM4PYr9tHfUSaLeETAWHLHA7URB3AlCBsuDtCZJw7vK8rzGpiv1DTmoe+c3aNimaduKVhl+Y0O6mFeaIaEUQunQ1QGvSzIvObdHGB2Xp1J2JihHprZEqYopJHgFOZoUmdrgZWjWmcxm2pS5lvr3LCOqbdswdvRXOsLhGBvUSDJKljXXV9j+A6b75/QfHQAA&quot;"/>
    <we:property name="isFiltersActionButtonVisible" value="true"/>
    <we:property name="isVisualContainerHeaderHidden" value="false"/>
    <we:property name="pageDisplayName" value="&quot;Regional Sales Overview&quot;"/>
    <we:property name="reportEmbeddedTime" value="&quot;2026-06-24T19:26:17.711Z&quot;"/>
    <we:property name="reportName" value="&quot;NJI_capstone_3&quot;"/>
    <we:property name="reportState" value="&quot;CONNECTED&quot;"/>
    <we:property name="reportUrl" value="&quot;/links/fxkn_hfHnR?ctid=bbce5c37-f181-4d0c-9310-7f877336e1cf&amp;pbi_source=linkShare&amp;fromEntryPoint=shar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764</Words>
  <Application>Microsoft Office PowerPoint</Application>
  <PresentationFormat>Widescreen</PresentationFormat>
  <Paragraphs>154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Amasis MT Pro Medium</vt:lpstr>
      <vt:lpstr>Aptos</vt:lpstr>
      <vt:lpstr>Arial</vt:lpstr>
      <vt:lpstr>Calibri</vt:lpstr>
      <vt:lpstr>Calibri Light</vt:lpstr>
      <vt:lpstr>Georgia</vt:lpstr>
      <vt:lpstr>Segoe UI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Microsoft Power BI</vt:lpstr>
      <vt:lpstr>Microsoft Power BI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Microsoft Power BI</vt:lpstr>
      <vt:lpstr>Github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 nji</dc:creator>
  <cp:lastModifiedBy>dimitri nji</cp:lastModifiedBy>
  <cp:revision>4</cp:revision>
  <dcterms:created xsi:type="dcterms:W3CDTF">2026-06-24T12:32:55Z</dcterms:created>
  <dcterms:modified xsi:type="dcterms:W3CDTF">2026-06-25T20:22:34Z</dcterms:modified>
</cp:coreProperties>
</file>