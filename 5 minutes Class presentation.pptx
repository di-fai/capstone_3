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62999" autoAdjust="0"/>
  </p:normalViewPr>
  <p:slideViewPr>
    <p:cSldViewPr snapToGrid="0">
      <p:cViewPr varScale="1">
        <p:scale>
          <a:sx n="64" d="100"/>
          <a:sy n="64" d="100"/>
        </p:scale>
        <p:origin x="40"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Quarterly sales ($M)</c:v>
                </c:pt>
              </c:strCache>
            </c:strRef>
          </c:tx>
          <c:spPr>
            <a:ln w="34925" cap="flat">
              <a:solidFill>
                <a:srgbClr val="0E8E86"/>
              </a:solidFill>
              <a:prstDash val="solid"/>
              <a:round/>
            </a:ln>
            <a:effectLst/>
          </c:spPr>
          <c:marker>
            <c:symbol val="circle"/>
            <c:size val="5"/>
            <c:spPr>
              <a:solidFill>
                <a:srgbClr val="0E8E86"/>
              </a:solidFill>
              <a:ln w="9525" cap="flat">
                <a:solidFill>
                  <a:srgbClr val="0E8E86"/>
                </a:solidFill>
                <a:prstDash val="solid"/>
                <a:round/>
              </a:ln>
              <a:effectLst/>
            </c:spPr>
          </c:marker>
          <c:cat>
            <c:strRef>
              <c:f>Sheet1!$A$2:$A$17</c:f>
              <c:strCache>
                <c:ptCount val="16"/>
                <c:pt idx="0">
                  <c:v>'22 Q1</c:v>
                </c:pt>
                <c:pt idx="1">
                  <c:v>'22 Q2</c:v>
                </c:pt>
                <c:pt idx="2">
                  <c:v>'22 Q3</c:v>
                </c:pt>
                <c:pt idx="3">
                  <c:v>'22 Q4</c:v>
                </c:pt>
                <c:pt idx="4">
                  <c:v>'23 Q1</c:v>
                </c:pt>
                <c:pt idx="5">
                  <c:v>'23 Q2</c:v>
                </c:pt>
                <c:pt idx="6">
                  <c:v>'23 Q3</c:v>
                </c:pt>
                <c:pt idx="7">
                  <c:v>'23 Q4</c:v>
                </c:pt>
                <c:pt idx="8">
                  <c:v>'24 Q1</c:v>
                </c:pt>
                <c:pt idx="9">
                  <c:v>'24 Q2</c:v>
                </c:pt>
                <c:pt idx="10">
                  <c:v>'24 Q3</c:v>
                </c:pt>
                <c:pt idx="11">
                  <c:v>'24 Q4</c:v>
                </c:pt>
                <c:pt idx="12">
                  <c:v>'25 Q1</c:v>
                </c:pt>
                <c:pt idx="13">
                  <c:v>'25 Q2</c:v>
                </c:pt>
                <c:pt idx="14">
                  <c:v>'25 Q3</c:v>
                </c:pt>
                <c:pt idx="15">
                  <c:v>'25 Q4</c:v>
                </c:pt>
              </c:strCache>
            </c:strRef>
          </c:cat>
          <c:val>
            <c:numRef>
              <c:f>Sheet1!$B$2:$B$17</c:f>
              <c:numCache>
                <c:formatCode>General</c:formatCode>
                <c:ptCount val="16"/>
                <c:pt idx="0">
                  <c:v>1.0900000000000001</c:v>
                </c:pt>
                <c:pt idx="1">
                  <c:v>1.44</c:v>
                </c:pt>
                <c:pt idx="2">
                  <c:v>1.1499999999999999</c:v>
                </c:pt>
                <c:pt idx="3">
                  <c:v>1.17</c:v>
                </c:pt>
                <c:pt idx="4">
                  <c:v>1.4</c:v>
                </c:pt>
                <c:pt idx="5">
                  <c:v>1.41</c:v>
                </c:pt>
                <c:pt idx="6">
                  <c:v>1.41</c:v>
                </c:pt>
                <c:pt idx="7">
                  <c:v>2.76</c:v>
                </c:pt>
                <c:pt idx="8">
                  <c:v>1.72</c:v>
                </c:pt>
                <c:pt idx="9">
                  <c:v>1.37</c:v>
                </c:pt>
                <c:pt idx="10">
                  <c:v>1.45</c:v>
                </c:pt>
                <c:pt idx="11">
                  <c:v>2.44</c:v>
                </c:pt>
                <c:pt idx="12">
                  <c:v>2.46</c:v>
                </c:pt>
                <c:pt idx="13">
                  <c:v>2.9</c:v>
                </c:pt>
                <c:pt idx="14">
                  <c:v>3.33</c:v>
                </c:pt>
                <c:pt idx="15">
                  <c:v>3.33</c:v>
                </c:pt>
              </c:numCache>
            </c:numRef>
          </c:val>
          <c:smooth val="1"/>
          <c:extLst>
            <c:ext xmlns:c16="http://schemas.microsoft.com/office/drawing/2014/chart" uri="{C3380CC4-5D6E-409C-BE32-E72D297353CC}">
              <c16:uniqueId val="{00000000-8BDF-4F09-B1ED-2378026D256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5C6675"/>
                </a:solidFill>
                <a:latin typeface="Calibri"/>
              </a:defRPr>
            </a:pPr>
            <a:endParaRPr lang="en-US"/>
          </a:p>
        </c:txPr>
        <c:crossAx val="2094734552"/>
        <c:crosses val="autoZero"/>
        <c:auto val="1"/>
        <c:lblAlgn val="ctr"/>
        <c:lblOffset val="100"/>
        <c:noMultiLvlLbl val="1"/>
      </c:catAx>
      <c:valAx>
        <c:axId val="2094734552"/>
        <c:scaling>
          <c:orientation val="minMax"/>
          <c:max val="4"/>
          <c:min val="0"/>
        </c:scaling>
        <c:delete val="0"/>
        <c:axPos val="l"/>
        <c:majorGridlines>
          <c:spPr>
            <a:ln w="6350" cap="flat">
              <a:solidFill>
                <a:srgbClr val="E2ED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675"/>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State revenue ($M)</c:v>
                </c:pt>
              </c:strCache>
            </c:strRef>
          </c:tx>
          <c:spPr>
            <a:solidFill>
              <a:srgbClr val="0E8E86"/>
            </a:solidFill>
            <a:effectLst/>
          </c:spPr>
          <c:invertIfNegative val="0"/>
          <c:dLbls>
            <c:numFmt formatCode="&quot;$&quot;0.00&quot;M&quot;" sourceLinked="0"/>
            <c:spPr>
              <a:noFill/>
              <a:ln>
                <a:noFill/>
              </a:ln>
              <a:effectLst/>
            </c:spPr>
            <c:txPr>
              <a:bodyPr/>
              <a:lstStyle/>
              <a:p>
                <a:pPr>
                  <a:defRPr sz="1000" b="1" i="0" u="none" strike="noStrike">
                    <a:solidFill>
                      <a:srgbClr val="0A6B6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Maryland</c:v>
                </c:pt>
                <c:pt idx="1">
                  <c:v>Massachusetts</c:v>
                </c:pt>
                <c:pt idx="2">
                  <c:v>New Jersey</c:v>
                </c:pt>
                <c:pt idx="3">
                  <c:v>Maine</c:v>
                </c:pt>
              </c:strCache>
            </c:strRef>
          </c:cat>
          <c:val>
            <c:numRef>
              <c:f>Sheet1!$B$2:$B$5</c:f>
              <c:numCache>
                <c:formatCode>General</c:formatCode>
                <c:ptCount val="4"/>
                <c:pt idx="0">
                  <c:v>12.89</c:v>
                </c:pt>
                <c:pt idx="1">
                  <c:v>9.92</c:v>
                </c:pt>
                <c:pt idx="2">
                  <c:v>7.42</c:v>
                </c:pt>
                <c:pt idx="3">
                  <c:v>2.76</c:v>
                </c:pt>
              </c:numCache>
            </c:numRef>
          </c:val>
          <c:extLst>
            <c:ext xmlns:c16="http://schemas.microsoft.com/office/drawing/2014/chart" uri="{C3380CC4-5D6E-409C-BE32-E72D297353CC}">
              <c16:uniqueId val="{00000000-BA8C-454C-A0EF-BF150FB236A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531"/>
                </a:solidFill>
                <a:latin typeface="Calibri"/>
              </a:defRPr>
            </a:pPr>
            <a:endParaRPr lang="en-US"/>
          </a:p>
        </c:txPr>
        <c:crossAx val="2094734552"/>
        <c:crosses val="autoZero"/>
        <c:auto val="1"/>
        <c:lblAlgn val="ctr"/>
        <c:lblOffset val="100"/>
        <c:noMultiLvlLbl val="1"/>
      </c:catAx>
      <c:valAx>
        <c:axId val="2094734552"/>
        <c:scaling>
          <c:orientation val="minMax"/>
          <c:max val="14"/>
          <c:min val="0"/>
        </c:scaling>
        <c:delete val="0"/>
        <c:axPos val="b"/>
        <c:majorGridlines>
          <c:spPr>
            <a:ln w="6350" cap="flat">
              <a:solidFill>
                <a:srgbClr val="E2ED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C66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Channel sales</c:v>
                </c:pt>
              </c:strCache>
            </c:strRef>
          </c:tx>
          <c:spPr>
            <a:solidFill>
              <a:schemeClr val="accent1"/>
            </a:solidFill>
            <a:ln w="9525" cap="flat">
              <a:solidFill>
                <a:srgbClr val="F9F9F9"/>
              </a:solidFill>
              <a:prstDash val="solid"/>
              <a:round/>
            </a:ln>
            <a:effectLst/>
          </c:spPr>
          <c:dPt>
            <c:idx val="0"/>
            <c:bubble3D val="0"/>
            <c:spPr>
              <a:solidFill>
                <a:srgbClr val="0E8E86"/>
              </a:solidFill>
              <a:effectLst/>
            </c:spPr>
            <c:extLst>
              <c:ext xmlns:c16="http://schemas.microsoft.com/office/drawing/2014/chart" uri="{C3380CC4-5D6E-409C-BE32-E72D297353CC}">
                <c16:uniqueId val="{00000001-9165-4E8F-89D1-99B7585B0266}"/>
              </c:ext>
            </c:extLst>
          </c:dPt>
          <c:dPt>
            <c:idx val="1"/>
            <c:bubble3D val="0"/>
            <c:spPr>
              <a:solidFill>
                <a:srgbClr val="8ED0CB"/>
              </a:solidFill>
              <a:effectLst/>
            </c:spPr>
            <c:extLst>
              <c:ext xmlns:c16="http://schemas.microsoft.com/office/drawing/2014/chart" uri="{C3380CC4-5D6E-409C-BE32-E72D297353CC}">
                <c16:uniqueId val="{00000003-9165-4E8F-89D1-99B7585B0266}"/>
              </c:ext>
            </c:extLst>
          </c:dPt>
          <c:dLbls>
            <c:dLbl>
              <c:idx val="0"/>
              <c:numFmt formatCode="0%" sourceLinked="0"/>
              <c:spPr/>
              <c:txPr>
                <a:bodyPr/>
                <a:lstStyle/>
                <a:p>
                  <a:pPr>
                    <a:defRPr sz="1200" b="1" i="0" u="none" strike="noStrike">
                      <a:solidFill>
                        <a:srgbClr val="FFFFFF"/>
                      </a:solidFill>
                      <a:latin typeface="Trebuchet M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165-4E8F-89D1-99B7585B0266}"/>
                </c:ext>
              </c:extLst>
            </c:dLbl>
            <c:dLbl>
              <c:idx val="1"/>
              <c:numFmt formatCode="0%" sourceLinked="0"/>
              <c:spPr/>
              <c:txPr>
                <a:bodyPr/>
                <a:lstStyle/>
                <a:p>
                  <a:pPr>
                    <a:defRPr sz="1200" b="1" i="0" u="none" strike="noStrike">
                      <a:solidFill>
                        <a:srgbClr val="FFFFFF"/>
                      </a:solidFill>
                      <a:latin typeface="Trebuchet M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165-4E8F-89D1-99B7585B0266}"/>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Store</c:v>
                </c:pt>
                <c:pt idx="1">
                  <c:v>Online</c:v>
                </c:pt>
              </c:strCache>
            </c:strRef>
          </c:cat>
          <c:val>
            <c:numRef>
              <c:f>Sheet1!$B$2:$B$3</c:f>
              <c:numCache>
                <c:formatCode>General</c:formatCode>
                <c:ptCount val="2"/>
                <c:pt idx="0">
                  <c:v>73.45</c:v>
                </c:pt>
                <c:pt idx="1">
                  <c:v>26.55</c:v>
                </c:pt>
              </c:numCache>
            </c:numRef>
          </c:val>
          <c:extLst>
            <c:ext xmlns:c16="http://schemas.microsoft.com/office/drawing/2014/chart" uri="{C3380CC4-5D6E-409C-BE32-E72D297353CC}">
              <c16:uniqueId val="{00000004-9165-4E8F-89D1-99B7585B0266}"/>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1E2531"/>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a four-year sales performance review for EmporiUm's Northeast region, covering fiscal years 2022 through 2025. The headline: the region generated $33 million in revenue across roughly 197,000 transactions, and Maryland was our single strongest state. Over the next few minutes I'll walk through how sales trended, which states and categories drove the results, our channel mix, and what we recommend doing next. (~30s)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region at a glance. Four numbers anchor everything: $33 million in revenue, almost 197,000 transactions, Maryland alone accounting for 39% of revenue, and Technology &amp; Accessories as our top category. Two findings sit underneath that. First, the region is concentrated — Maryland and Massachusetts together are over 70% of revenue. Second, one category, Technology &amp; Accessories, clearly leads. Keep those two themes in mind; the rest of the deck unpacks them. (~40s)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quarterly sales from 2022 to 2025, the pattern is clearly seasonal and clearly upward. You can see repeated spikes in the fourth quarter — the holiday season — and softer build-ups around back-to-school. More importantly, the baseline keeps climbing: we open around $1.1 million a quarter in 2022 and finish above $3.3 million by late 2025. Both store and online held steady through these cycles. The practical takeaway is that these peaks tell us exactly when to lean into promotions, staffing, and inventory. (~40s)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revenue down by state shows just how concentrated the region is. Maryland leads at $12.9 million — about 39% of the total. Massachusetts adds another $9.9 million, or 30%. Together those two states are more than two-thirds of Northeast revenue. New Jersey contributes $7.4 million, and Maine trails at $2.8 million. The opportunity here is benchmarking: whatever Maryland and Massachusetts are doing in store and online execution, we should be studying it and transplanting it to lift New Jersey and especially Maine. (~40s)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Drilling into product categories, there's one obvious winner: Technology &amp; Accessories. It generates the largest share of category revenue and outpaces every other product group we sell in the Northeast. That has a direct decision impact. We should concentrate our promotions, our product availability, and our inventory planning on these high-performing categories — and at the same time, take a hard look at the laggards to decide whether they need a different assortment, new pricing, or more marketing support. (~35s)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categories, a few individual titles consistently top the charts. Our three best-selling general-audience books are Harry Potter and the Sorcerer's Stone at about $16,400, The Tipping Point at roughly $13,000, and Of Mice and Men just behind it. These are dependable, repeat sellers. They're worth using deliberately — for front-of-store displays, for bundles, and as anchors for cross-selling and restocking decisions. (~30s)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channel mix. Stores remain the larger engine at $24.2 million, or about 73% of revenue, while online contributes $8.8 million — roughly 27%. The headline here is balance: stores are slightly ahead, but online is a major, healthy share of the business, not an afterthought. The implication is that we shouldn't choose one over the other. We keep investing in the in-store experience and foot traffic, while continuing to grow digital through marketing, the website, and shipping. Monitoring this balance helps us allocate resources sensibly. (~40s)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here's the synthesis. The data tells us four things: demand is stable and seasonal, revenue is concentrated in a few categories led by Technology &amp; Accessories, state performance is uneven with Maryland and Massachusetts dominating, and both channels matter. That leads to four recommendations: stock ahead of the peaks, back our proven winners, grow the lagging states using the playbooks that work in our top markets, and keep both channels balanced while using history to forecast. Net-net: $33 million in revenue, over 70% from our two strongest states, and a clear category driver — the region is positioned for continued growth. Thank you. (~45s)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768669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E2C"/>
        </a:solidFill>
        <a:effectLst/>
      </p:bgPr>
    </p:bg>
    <p:spTree>
      <p:nvGrpSpPr>
        <p:cNvPr id="1" name=""/>
        <p:cNvGrpSpPr/>
        <p:nvPr/>
      </p:nvGrpSpPr>
      <p:grpSpPr>
        <a:xfrm>
          <a:off x="0" y="0"/>
          <a:ext cx="0" cy="0"/>
          <a:chOff x="0" y="0"/>
          <a:chExt cx="0" cy="0"/>
        </a:xfrm>
      </p:grpSpPr>
      <p:pic>
        <p:nvPicPr>
          <p:cNvPr id="2" name="Image 0" descr="/agent/turn1/workspace/images/image-95dc3124018335207983c941b9cffa1f.jp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6302E">
              <a:alpha val="72000"/>
            </a:srgbClr>
          </a:solidFill>
          <a:ln/>
        </p:spPr>
        <p:txBody>
          <a:bodyPr/>
          <a:lstStyle/>
          <a:p>
            <a:endParaRPr lang="en-US"/>
          </a:p>
        </p:txBody>
      </p:sp>
      <p:sp>
        <p:nvSpPr>
          <p:cNvPr id="4" name="Text 1"/>
          <p:cNvSpPr/>
          <p:nvPr/>
        </p:nvSpPr>
        <p:spPr>
          <a:xfrm>
            <a:off x="548640" y="566928"/>
            <a:ext cx="8046720" cy="292608"/>
          </a:xfrm>
          <a:prstGeom prst="rect">
            <a:avLst/>
          </a:prstGeom>
          <a:noFill/>
          <a:ln/>
        </p:spPr>
        <p:txBody>
          <a:bodyPr wrap="square" lIns="0" tIns="0" rIns="0" bIns="0" rtlCol="0" anchor="ctr"/>
          <a:lstStyle/>
          <a:p>
            <a:pPr marL="0" indent="0">
              <a:buNone/>
            </a:pPr>
            <a:r>
              <a:rPr lang="en-US" sz="1300" b="1" kern="0" spc="300" dirty="0">
                <a:solidFill>
                  <a:srgbClr val="8ED0CB"/>
                </a:solidFill>
                <a:latin typeface="Trebuchet MS" pitchFamily="34" charset="0"/>
                <a:ea typeface="Trebuchet MS" pitchFamily="34" charset="-122"/>
                <a:cs typeface="Trebuchet MS" pitchFamily="34" charset="-120"/>
              </a:rPr>
              <a:t>REGIONAL PERFORMANCE REPORT   ·   FY2022 – 2025</a:t>
            </a:r>
            <a:endParaRPr lang="en-US" sz="1300" dirty="0"/>
          </a:p>
        </p:txBody>
      </p:sp>
      <p:sp>
        <p:nvSpPr>
          <p:cNvPr id="5" name="Text 2"/>
          <p:cNvSpPr/>
          <p:nvPr/>
        </p:nvSpPr>
        <p:spPr>
          <a:xfrm>
            <a:off x="548640" y="1024128"/>
            <a:ext cx="8046720" cy="1371600"/>
          </a:xfrm>
          <a:prstGeom prst="rect">
            <a:avLst/>
          </a:prstGeom>
          <a:noFill/>
          <a:ln/>
        </p:spPr>
        <p:txBody>
          <a:bodyPr wrap="square" lIns="0" tIns="0" rIns="0" bIns="0" rtlCol="0" anchor="ctr"/>
          <a:lstStyle/>
          <a:p>
            <a:pPr marL="0" indent="0">
              <a:lnSpc>
                <a:spcPct val="100000"/>
              </a:lnSpc>
              <a:buNone/>
            </a:pPr>
            <a:r>
              <a:rPr lang="en-US" sz="4100" b="1" dirty="0">
                <a:solidFill>
                  <a:srgbClr val="FFFFFF"/>
                </a:solidFill>
                <a:latin typeface="Trebuchet MS" pitchFamily="34" charset="0"/>
                <a:ea typeface="Trebuchet MS" pitchFamily="34" charset="-122"/>
                <a:cs typeface="Trebuchet MS" pitchFamily="34" charset="-120"/>
              </a:rPr>
              <a:t>Northeast Regional Sales</a:t>
            </a:r>
            <a:endParaRPr lang="en-US" sz="4100" dirty="0"/>
          </a:p>
          <a:p>
            <a:pPr marL="0" indent="0">
              <a:lnSpc>
                <a:spcPct val="100000"/>
              </a:lnSpc>
              <a:buNone/>
            </a:pPr>
            <a:r>
              <a:rPr lang="en-US" sz="4100" b="1" dirty="0">
                <a:solidFill>
                  <a:srgbClr val="FFFFFF"/>
                </a:solidFill>
                <a:latin typeface="Trebuchet MS" pitchFamily="34" charset="0"/>
                <a:ea typeface="Trebuchet MS" pitchFamily="34" charset="-122"/>
                <a:cs typeface="Trebuchet MS" pitchFamily="34" charset="-120"/>
              </a:rPr>
              <a:t>Performance Analysis</a:t>
            </a:r>
            <a:endParaRPr lang="en-US" sz="4100" dirty="0"/>
          </a:p>
        </p:txBody>
      </p:sp>
      <p:sp>
        <p:nvSpPr>
          <p:cNvPr id="6" name="Text 3"/>
          <p:cNvSpPr/>
          <p:nvPr/>
        </p:nvSpPr>
        <p:spPr>
          <a:xfrm>
            <a:off x="548640" y="2395728"/>
            <a:ext cx="8046720" cy="365760"/>
          </a:xfrm>
          <a:prstGeom prst="rect">
            <a:avLst/>
          </a:prstGeom>
          <a:noFill/>
          <a:ln/>
        </p:spPr>
        <p:txBody>
          <a:bodyPr wrap="square" lIns="0" tIns="0" rIns="0" bIns="0" rtlCol="0" anchor="ctr"/>
          <a:lstStyle/>
          <a:p>
            <a:pPr marL="0" indent="0">
              <a:buNone/>
            </a:pPr>
            <a:r>
              <a:rPr lang="en-US" sz="1500" i="1" dirty="0">
                <a:solidFill>
                  <a:srgbClr val="B7E6E1"/>
                </a:solidFill>
                <a:latin typeface="Calibri" pitchFamily="34" charset="0"/>
                <a:ea typeface="Calibri" pitchFamily="34" charset="-122"/>
                <a:cs typeface="Calibri" pitchFamily="34" charset="-120"/>
              </a:rPr>
              <a:t>Online and store performance across the Northeast region</a:t>
            </a:r>
            <a:r>
              <a:rPr lang="en-US" sz="1500" b="1" i="1" dirty="0">
                <a:solidFill>
                  <a:srgbClr val="8ED0CB"/>
                </a:solidFill>
                <a:latin typeface="Calibri" pitchFamily="34" charset="0"/>
                <a:ea typeface="Calibri" pitchFamily="34" charset="-122"/>
                <a:cs typeface="Calibri" pitchFamily="34" charset="-120"/>
              </a:rPr>
              <a:t>   ·   EmporiUm</a:t>
            </a:r>
            <a:endParaRPr lang="en-US" sz="1500" dirty="0"/>
          </a:p>
        </p:txBody>
      </p:sp>
      <p:sp>
        <p:nvSpPr>
          <p:cNvPr id="7" name="Shape 4"/>
          <p:cNvSpPr/>
          <p:nvPr/>
        </p:nvSpPr>
        <p:spPr>
          <a:xfrm>
            <a:off x="548640" y="3127248"/>
            <a:ext cx="2542032" cy="1078992"/>
          </a:xfrm>
          <a:prstGeom prst="rect">
            <a:avLst/>
          </a:prstGeom>
          <a:solidFill>
            <a:srgbClr val="0E5C57">
              <a:alpha val="82000"/>
            </a:srgbClr>
          </a:solidFill>
          <a:ln w="12700">
            <a:solidFill>
              <a:srgbClr val="8ED0CB"/>
            </a:solidFill>
            <a:prstDash val="solid"/>
          </a:ln>
        </p:spPr>
        <p:txBody>
          <a:bodyPr/>
          <a:lstStyle/>
          <a:p>
            <a:endParaRPr lang="en-US"/>
          </a:p>
        </p:txBody>
      </p:sp>
      <p:sp>
        <p:nvSpPr>
          <p:cNvPr id="8" name="Text 5"/>
          <p:cNvSpPr/>
          <p:nvPr/>
        </p:nvSpPr>
        <p:spPr>
          <a:xfrm>
            <a:off x="713232" y="3273552"/>
            <a:ext cx="2212848" cy="502920"/>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$33.00M</a:t>
            </a:r>
            <a:endParaRPr lang="en-US" sz="2700" dirty="0"/>
          </a:p>
        </p:txBody>
      </p:sp>
      <p:sp>
        <p:nvSpPr>
          <p:cNvPr id="9" name="Text 6"/>
          <p:cNvSpPr/>
          <p:nvPr/>
        </p:nvSpPr>
        <p:spPr>
          <a:xfrm>
            <a:off x="713232" y="3785616"/>
            <a:ext cx="2212848" cy="310896"/>
          </a:xfrm>
          <a:prstGeom prst="rect">
            <a:avLst/>
          </a:prstGeom>
          <a:noFill/>
          <a:ln/>
        </p:spPr>
        <p:txBody>
          <a:bodyPr wrap="square" lIns="0" tIns="0" rIns="0" bIns="0" rtlCol="0" anchor="ctr"/>
          <a:lstStyle/>
          <a:p>
            <a:pPr marL="0" indent="0" algn="l">
              <a:buNone/>
            </a:pPr>
            <a:r>
              <a:rPr lang="en-US" sz="1150" dirty="0">
                <a:solidFill>
                  <a:srgbClr val="8ED0CB"/>
                </a:solidFill>
                <a:latin typeface="Calibri" pitchFamily="34" charset="0"/>
                <a:ea typeface="Calibri" pitchFamily="34" charset="-122"/>
                <a:cs typeface="Calibri" pitchFamily="34" charset="-120"/>
              </a:rPr>
              <a:t>Total regional revenue</a:t>
            </a:r>
            <a:endParaRPr lang="en-US" sz="1150" dirty="0"/>
          </a:p>
        </p:txBody>
      </p:sp>
      <p:sp>
        <p:nvSpPr>
          <p:cNvPr id="10" name="Shape 7"/>
          <p:cNvSpPr/>
          <p:nvPr/>
        </p:nvSpPr>
        <p:spPr>
          <a:xfrm>
            <a:off x="3346704" y="3127248"/>
            <a:ext cx="2542032" cy="1078992"/>
          </a:xfrm>
          <a:prstGeom prst="rect">
            <a:avLst/>
          </a:prstGeom>
          <a:solidFill>
            <a:srgbClr val="0E5C57">
              <a:alpha val="82000"/>
            </a:srgbClr>
          </a:solidFill>
          <a:ln w="12700">
            <a:solidFill>
              <a:srgbClr val="8ED0CB"/>
            </a:solidFill>
            <a:prstDash val="solid"/>
          </a:ln>
        </p:spPr>
        <p:txBody>
          <a:bodyPr/>
          <a:lstStyle/>
          <a:p>
            <a:endParaRPr lang="en-US"/>
          </a:p>
        </p:txBody>
      </p:sp>
      <p:sp>
        <p:nvSpPr>
          <p:cNvPr id="11" name="Text 8"/>
          <p:cNvSpPr/>
          <p:nvPr/>
        </p:nvSpPr>
        <p:spPr>
          <a:xfrm>
            <a:off x="3511296" y="3273552"/>
            <a:ext cx="2212848" cy="502920"/>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~196.9K</a:t>
            </a:r>
            <a:endParaRPr lang="en-US" sz="2700" dirty="0"/>
          </a:p>
        </p:txBody>
      </p:sp>
      <p:sp>
        <p:nvSpPr>
          <p:cNvPr id="12" name="Text 9"/>
          <p:cNvSpPr/>
          <p:nvPr/>
        </p:nvSpPr>
        <p:spPr>
          <a:xfrm>
            <a:off x="3511296" y="3785616"/>
            <a:ext cx="2212848" cy="310896"/>
          </a:xfrm>
          <a:prstGeom prst="rect">
            <a:avLst/>
          </a:prstGeom>
          <a:noFill/>
          <a:ln/>
        </p:spPr>
        <p:txBody>
          <a:bodyPr wrap="square" lIns="0" tIns="0" rIns="0" bIns="0" rtlCol="0" anchor="ctr"/>
          <a:lstStyle/>
          <a:p>
            <a:pPr marL="0" indent="0" algn="l">
              <a:buNone/>
            </a:pPr>
            <a:r>
              <a:rPr lang="en-US" sz="1150" dirty="0">
                <a:solidFill>
                  <a:srgbClr val="8ED0CB"/>
                </a:solidFill>
                <a:latin typeface="Calibri" pitchFamily="34" charset="0"/>
                <a:ea typeface="Calibri" pitchFamily="34" charset="-122"/>
                <a:cs typeface="Calibri" pitchFamily="34" charset="-120"/>
              </a:rPr>
              <a:t>Total transactions</a:t>
            </a:r>
            <a:endParaRPr lang="en-US" sz="1150" dirty="0"/>
          </a:p>
        </p:txBody>
      </p:sp>
      <p:sp>
        <p:nvSpPr>
          <p:cNvPr id="13" name="Shape 10"/>
          <p:cNvSpPr/>
          <p:nvPr/>
        </p:nvSpPr>
        <p:spPr>
          <a:xfrm>
            <a:off x="6144768" y="3127248"/>
            <a:ext cx="2542032" cy="1078992"/>
          </a:xfrm>
          <a:prstGeom prst="rect">
            <a:avLst/>
          </a:prstGeom>
          <a:solidFill>
            <a:srgbClr val="0E5C57">
              <a:alpha val="82000"/>
            </a:srgbClr>
          </a:solidFill>
          <a:ln w="12700">
            <a:solidFill>
              <a:srgbClr val="8ED0CB"/>
            </a:solidFill>
            <a:prstDash val="solid"/>
          </a:ln>
        </p:spPr>
        <p:txBody>
          <a:bodyPr/>
          <a:lstStyle/>
          <a:p>
            <a:endParaRPr lang="en-US"/>
          </a:p>
        </p:txBody>
      </p:sp>
      <p:sp>
        <p:nvSpPr>
          <p:cNvPr id="14" name="Text 11"/>
          <p:cNvSpPr/>
          <p:nvPr/>
        </p:nvSpPr>
        <p:spPr>
          <a:xfrm>
            <a:off x="6309360" y="3273552"/>
            <a:ext cx="2212848" cy="502920"/>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Maryland</a:t>
            </a:r>
            <a:endParaRPr lang="en-US" sz="2700" dirty="0"/>
          </a:p>
        </p:txBody>
      </p:sp>
      <p:sp>
        <p:nvSpPr>
          <p:cNvPr id="15" name="Text 12"/>
          <p:cNvSpPr/>
          <p:nvPr/>
        </p:nvSpPr>
        <p:spPr>
          <a:xfrm>
            <a:off x="6309360" y="3785616"/>
            <a:ext cx="2212848" cy="310896"/>
          </a:xfrm>
          <a:prstGeom prst="rect">
            <a:avLst/>
          </a:prstGeom>
          <a:noFill/>
          <a:ln/>
        </p:spPr>
        <p:txBody>
          <a:bodyPr wrap="square" lIns="0" tIns="0" rIns="0" bIns="0" rtlCol="0" anchor="ctr"/>
          <a:lstStyle/>
          <a:p>
            <a:pPr marL="0" indent="0" algn="l">
              <a:buNone/>
            </a:pPr>
            <a:r>
              <a:rPr lang="en-US" sz="1150" dirty="0">
                <a:solidFill>
                  <a:srgbClr val="8ED0CB"/>
                </a:solidFill>
                <a:latin typeface="Calibri" pitchFamily="34" charset="0"/>
                <a:ea typeface="Calibri" pitchFamily="34" charset="-122"/>
                <a:cs typeface="Calibri" pitchFamily="34" charset="-120"/>
              </a:rPr>
              <a:t>Top revenue state</a:t>
            </a:r>
            <a:endParaRPr lang="en-US" sz="1150" dirty="0"/>
          </a:p>
        </p:txBody>
      </p:sp>
      <p:sp>
        <p:nvSpPr>
          <p:cNvPr id="16" name="Text 13"/>
          <p:cNvSpPr/>
          <p:nvPr/>
        </p:nvSpPr>
        <p:spPr>
          <a:xfrm>
            <a:off x="548640" y="4425696"/>
            <a:ext cx="8046720" cy="548640"/>
          </a:xfrm>
          <a:prstGeom prst="rect">
            <a:avLst/>
          </a:prstGeom>
          <a:noFill/>
          <a:ln/>
        </p:spPr>
        <p:txBody>
          <a:bodyPr wrap="square" lIns="0" tIns="0" rIns="0" bIns="0" rtlCol="0" anchor="ctr"/>
          <a:lstStyle/>
          <a:p>
            <a:pPr marL="0" indent="0">
              <a:lnSpc>
                <a:spcPct val="110000"/>
              </a:lnSpc>
              <a:buNone/>
            </a:pPr>
            <a:r>
              <a:rPr lang="en-US" sz="1200" i="1" dirty="0">
                <a:solidFill>
                  <a:srgbClr val="8ED0CB"/>
                </a:solidFill>
                <a:latin typeface="Calibri" pitchFamily="34" charset="0"/>
                <a:ea typeface="Calibri" pitchFamily="34" charset="-122"/>
                <a:cs typeface="Calibri" pitchFamily="34" charset="-120"/>
              </a:rPr>
              <a:t>Northeast Regional Sales Report · 2022–2025</a:t>
            </a:r>
            <a:endParaRPr lang="en-US" sz="1200" dirty="0"/>
          </a:p>
          <a:p>
            <a:pPr marL="0" indent="0">
              <a:lnSpc>
                <a:spcPct val="110000"/>
              </a:lnSpc>
              <a:buNone/>
            </a:pPr>
            <a:r>
              <a:rPr lang="en-US" sz="1200" b="1" i="1" dirty="0">
                <a:solidFill>
                  <a:srgbClr val="FFFFFF"/>
                </a:solidFill>
                <a:latin typeface="Calibri" pitchFamily="34" charset="0"/>
                <a:ea typeface="Calibri" pitchFamily="34" charset="-122"/>
                <a:cs typeface="Calibri" pitchFamily="34" charset="-120"/>
              </a:rPr>
              <a:t>Presented by Dimitri Nji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6"/>
        </a:solidFill>
        <a:effectLst/>
      </p:bgPr>
    </p:bg>
    <p:spTree>
      <p:nvGrpSpPr>
        <p:cNvPr id="1" name=""/>
        <p:cNvGrpSpPr/>
        <p:nvPr/>
      </p:nvGrpSpPr>
      <p:grpSpPr>
        <a:xfrm>
          <a:off x="0" y="0"/>
          <a:ext cx="0" cy="0"/>
          <a:chOff x="0" y="0"/>
          <a:chExt cx="0" cy="0"/>
        </a:xfrm>
      </p:grpSpPr>
      <p:sp>
        <p:nvSpPr>
          <p:cNvPr id="2" name="Text 0"/>
          <p:cNvSpPr/>
          <p:nvPr/>
        </p:nvSpPr>
        <p:spPr>
          <a:xfrm>
            <a:off x="502920" y="384048"/>
            <a:ext cx="813816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EXECUTIVE OVERVIEW</a:t>
            </a:r>
            <a:endParaRPr lang="en-US" sz="1250" dirty="0"/>
          </a:p>
        </p:txBody>
      </p:sp>
      <p:sp>
        <p:nvSpPr>
          <p:cNvPr id="3" name="Text 1"/>
          <p:cNvSpPr/>
          <p:nvPr/>
        </p:nvSpPr>
        <p:spPr>
          <a:xfrm>
            <a:off x="502920" y="676656"/>
            <a:ext cx="8138160" cy="640080"/>
          </a:xfrm>
          <a:prstGeom prst="rect">
            <a:avLst/>
          </a:prstGeom>
          <a:noFill/>
          <a:ln/>
        </p:spPr>
        <p:txBody>
          <a:bodyPr wrap="square" lIns="0" tIns="0" rIns="0" bIns="0" rtlCol="0" anchor="t"/>
          <a:lstStyle/>
          <a:p>
            <a:pPr marL="0" indent="0" algn="l">
              <a:buNone/>
            </a:pPr>
            <a:r>
              <a:rPr lang="en-US" sz="2500" b="1" dirty="0">
                <a:solidFill>
                  <a:srgbClr val="1E2531"/>
                </a:solidFill>
                <a:latin typeface="Trebuchet MS" pitchFamily="34" charset="0"/>
                <a:ea typeface="Trebuchet MS" pitchFamily="34" charset="-122"/>
                <a:cs typeface="Trebuchet MS" pitchFamily="34" charset="-120"/>
              </a:rPr>
              <a:t>Northeast performance at a glance</a:t>
            </a:r>
            <a:endParaRPr lang="en-US" sz="2500" dirty="0"/>
          </a:p>
        </p:txBody>
      </p:sp>
      <p:sp>
        <p:nvSpPr>
          <p:cNvPr id="4" name="Shape 2"/>
          <p:cNvSpPr/>
          <p:nvPr/>
        </p:nvSpPr>
        <p:spPr>
          <a:xfrm>
            <a:off x="502920" y="1463040"/>
            <a:ext cx="1947672" cy="107899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5" name="Shape 3"/>
          <p:cNvSpPr/>
          <p:nvPr/>
        </p:nvSpPr>
        <p:spPr>
          <a:xfrm>
            <a:off x="502920" y="1463040"/>
            <a:ext cx="1947672" cy="64008"/>
          </a:xfrm>
          <a:prstGeom prst="rect">
            <a:avLst/>
          </a:prstGeom>
          <a:solidFill>
            <a:srgbClr val="0E8E86"/>
          </a:solidFill>
          <a:ln/>
        </p:spPr>
        <p:txBody>
          <a:bodyPr/>
          <a:lstStyle/>
          <a:p>
            <a:endParaRPr lang="en-US"/>
          </a:p>
        </p:txBody>
      </p:sp>
      <p:sp>
        <p:nvSpPr>
          <p:cNvPr id="6" name="Text 4"/>
          <p:cNvSpPr/>
          <p:nvPr/>
        </p:nvSpPr>
        <p:spPr>
          <a:xfrm>
            <a:off x="612648" y="1737360"/>
            <a:ext cx="1728216" cy="457200"/>
          </a:xfrm>
          <a:prstGeom prst="rect">
            <a:avLst/>
          </a:prstGeom>
          <a:noFill/>
          <a:ln/>
        </p:spPr>
        <p:txBody>
          <a:bodyPr wrap="square" lIns="0" tIns="0" rIns="0" bIns="0" rtlCol="0" anchor="ctr"/>
          <a:lstStyle/>
          <a:p>
            <a:pPr marL="0" indent="0" algn="ctr">
              <a:buNone/>
            </a:pPr>
            <a:r>
              <a:rPr lang="en-US" sz="2500" b="1" dirty="0">
                <a:solidFill>
                  <a:srgbClr val="0A6B65"/>
                </a:solidFill>
                <a:latin typeface="Trebuchet MS" pitchFamily="34" charset="0"/>
                <a:ea typeface="Trebuchet MS" pitchFamily="34" charset="-122"/>
                <a:cs typeface="Trebuchet MS" pitchFamily="34" charset="-120"/>
              </a:rPr>
              <a:t>$33.00M</a:t>
            </a:r>
            <a:endParaRPr lang="en-US" sz="2500" dirty="0"/>
          </a:p>
        </p:txBody>
      </p:sp>
      <p:sp>
        <p:nvSpPr>
          <p:cNvPr id="7" name="Text 5"/>
          <p:cNvSpPr/>
          <p:nvPr/>
        </p:nvSpPr>
        <p:spPr>
          <a:xfrm>
            <a:off x="612648" y="2212848"/>
            <a:ext cx="1728216" cy="274320"/>
          </a:xfrm>
          <a:prstGeom prst="rect">
            <a:avLst/>
          </a:prstGeom>
          <a:noFill/>
          <a:ln/>
        </p:spPr>
        <p:txBody>
          <a:bodyPr wrap="square" lIns="0" tIns="0" rIns="0" bIns="0" rtlCol="0" anchor="ctr"/>
          <a:lstStyle/>
          <a:p>
            <a:pPr marL="0" indent="0" algn="ctr">
              <a:buNone/>
            </a:pPr>
            <a:r>
              <a:rPr lang="en-US" sz="1050" b="1" kern="0" spc="100" dirty="0">
                <a:solidFill>
                  <a:srgbClr val="5C6675"/>
                </a:solidFill>
                <a:latin typeface="Calibri" pitchFamily="34" charset="0"/>
                <a:ea typeface="Calibri" pitchFamily="34" charset="-122"/>
                <a:cs typeface="Calibri" pitchFamily="34" charset="-120"/>
              </a:rPr>
              <a:t>TOTAL REVENUE</a:t>
            </a:r>
            <a:endParaRPr lang="en-US" sz="1050" dirty="0"/>
          </a:p>
        </p:txBody>
      </p:sp>
      <p:sp>
        <p:nvSpPr>
          <p:cNvPr id="8" name="Shape 6"/>
          <p:cNvSpPr/>
          <p:nvPr/>
        </p:nvSpPr>
        <p:spPr>
          <a:xfrm>
            <a:off x="2642616" y="1463040"/>
            <a:ext cx="1947672" cy="107899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9" name="Shape 7"/>
          <p:cNvSpPr/>
          <p:nvPr/>
        </p:nvSpPr>
        <p:spPr>
          <a:xfrm>
            <a:off x="2642616" y="1463040"/>
            <a:ext cx="1947672" cy="64008"/>
          </a:xfrm>
          <a:prstGeom prst="rect">
            <a:avLst/>
          </a:prstGeom>
          <a:solidFill>
            <a:srgbClr val="0E8E86"/>
          </a:solidFill>
          <a:ln/>
        </p:spPr>
        <p:txBody>
          <a:bodyPr/>
          <a:lstStyle/>
          <a:p>
            <a:endParaRPr lang="en-US"/>
          </a:p>
        </p:txBody>
      </p:sp>
      <p:sp>
        <p:nvSpPr>
          <p:cNvPr id="10" name="Text 8"/>
          <p:cNvSpPr/>
          <p:nvPr/>
        </p:nvSpPr>
        <p:spPr>
          <a:xfrm>
            <a:off x="2752344" y="1737360"/>
            <a:ext cx="1728216" cy="457200"/>
          </a:xfrm>
          <a:prstGeom prst="rect">
            <a:avLst/>
          </a:prstGeom>
          <a:noFill/>
          <a:ln/>
        </p:spPr>
        <p:txBody>
          <a:bodyPr wrap="square" lIns="0" tIns="0" rIns="0" bIns="0" rtlCol="0" anchor="ctr"/>
          <a:lstStyle/>
          <a:p>
            <a:pPr marL="0" indent="0" algn="ctr">
              <a:buNone/>
            </a:pPr>
            <a:r>
              <a:rPr lang="en-US" sz="2500" b="1" dirty="0">
                <a:solidFill>
                  <a:srgbClr val="0A6B65"/>
                </a:solidFill>
                <a:latin typeface="Trebuchet MS" pitchFamily="34" charset="0"/>
                <a:ea typeface="Trebuchet MS" pitchFamily="34" charset="-122"/>
                <a:cs typeface="Trebuchet MS" pitchFamily="34" charset="-120"/>
              </a:rPr>
              <a:t>~196.9K</a:t>
            </a:r>
            <a:endParaRPr lang="en-US" sz="2500" dirty="0"/>
          </a:p>
        </p:txBody>
      </p:sp>
      <p:sp>
        <p:nvSpPr>
          <p:cNvPr id="11" name="Text 9"/>
          <p:cNvSpPr/>
          <p:nvPr/>
        </p:nvSpPr>
        <p:spPr>
          <a:xfrm>
            <a:off x="2752344" y="2212848"/>
            <a:ext cx="1728216" cy="274320"/>
          </a:xfrm>
          <a:prstGeom prst="rect">
            <a:avLst/>
          </a:prstGeom>
          <a:noFill/>
          <a:ln/>
        </p:spPr>
        <p:txBody>
          <a:bodyPr wrap="square" lIns="0" tIns="0" rIns="0" bIns="0" rtlCol="0" anchor="ctr"/>
          <a:lstStyle/>
          <a:p>
            <a:pPr marL="0" indent="0" algn="ctr">
              <a:buNone/>
            </a:pPr>
            <a:r>
              <a:rPr lang="en-US" sz="1050" b="1" kern="0" spc="100" dirty="0">
                <a:solidFill>
                  <a:srgbClr val="5C6675"/>
                </a:solidFill>
                <a:latin typeface="Calibri" pitchFamily="34" charset="0"/>
                <a:ea typeface="Calibri" pitchFamily="34" charset="-122"/>
                <a:cs typeface="Calibri" pitchFamily="34" charset="-120"/>
              </a:rPr>
              <a:t>TRANSACTIONS</a:t>
            </a:r>
            <a:endParaRPr lang="en-US" sz="1050" dirty="0"/>
          </a:p>
        </p:txBody>
      </p:sp>
      <p:sp>
        <p:nvSpPr>
          <p:cNvPr id="12" name="Shape 10"/>
          <p:cNvSpPr/>
          <p:nvPr/>
        </p:nvSpPr>
        <p:spPr>
          <a:xfrm>
            <a:off x="4782312" y="1463040"/>
            <a:ext cx="1947672" cy="107899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3" name="Shape 11"/>
          <p:cNvSpPr/>
          <p:nvPr/>
        </p:nvSpPr>
        <p:spPr>
          <a:xfrm>
            <a:off x="4782312" y="1463040"/>
            <a:ext cx="1947672" cy="64008"/>
          </a:xfrm>
          <a:prstGeom prst="rect">
            <a:avLst/>
          </a:prstGeom>
          <a:solidFill>
            <a:srgbClr val="0E8E86"/>
          </a:solidFill>
          <a:ln/>
        </p:spPr>
        <p:txBody>
          <a:bodyPr/>
          <a:lstStyle/>
          <a:p>
            <a:endParaRPr lang="en-US"/>
          </a:p>
        </p:txBody>
      </p:sp>
      <p:sp>
        <p:nvSpPr>
          <p:cNvPr id="14" name="Text 12"/>
          <p:cNvSpPr/>
          <p:nvPr/>
        </p:nvSpPr>
        <p:spPr>
          <a:xfrm>
            <a:off x="4892040" y="1737360"/>
            <a:ext cx="1728216" cy="457200"/>
          </a:xfrm>
          <a:prstGeom prst="rect">
            <a:avLst/>
          </a:prstGeom>
          <a:noFill/>
          <a:ln/>
        </p:spPr>
        <p:txBody>
          <a:bodyPr wrap="square" lIns="0" tIns="0" rIns="0" bIns="0" rtlCol="0" anchor="ctr"/>
          <a:lstStyle/>
          <a:p>
            <a:pPr marL="0" indent="0" algn="ctr">
              <a:buNone/>
            </a:pPr>
            <a:r>
              <a:rPr lang="en-US" sz="2500" b="1" dirty="0">
                <a:solidFill>
                  <a:srgbClr val="0A6B65"/>
                </a:solidFill>
                <a:latin typeface="Trebuchet MS" pitchFamily="34" charset="0"/>
                <a:ea typeface="Trebuchet MS" pitchFamily="34" charset="-122"/>
                <a:cs typeface="Trebuchet MS" pitchFamily="34" charset="-120"/>
              </a:rPr>
              <a:t>39.06%</a:t>
            </a:r>
            <a:endParaRPr lang="en-US" sz="2500" dirty="0"/>
          </a:p>
        </p:txBody>
      </p:sp>
      <p:sp>
        <p:nvSpPr>
          <p:cNvPr id="15" name="Text 13"/>
          <p:cNvSpPr/>
          <p:nvPr/>
        </p:nvSpPr>
        <p:spPr>
          <a:xfrm>
            <a:off x="4892040" y="2212848"/>
            <a:ext cx="1728216" cy="274320"/>
          </a:xfrm>
          <a:prstGeom prst="rect">
            <a:avLst/>
          </a:prstGeom>
          <a:noFill/>
          <a:ln/>
        </p:spPr>
        <p:txBody>
          <a:bodyPr wrap="square" lIns="0" tIns="0" rIns="0" bIns="0" rtlCol="0" anchor="ctr"/>
          <a:lstStyle/>
          <a:p>
            <a:pPr marL="0" indent="0" algn="ctr">
              <a:buNone/>
            </a:pPr>
            <a:r>
              <a:rPr lang="en-US" sz="1050" b="1" kern="0" spc="100" dirty="0">
                <a:solidFill>
                  <a:srgbClr val="5C6675"/>
                </a:solidFill>
                <a:latin typeface="Calibri" pitchFamily="34" charset="0"/>
                <a:ea typeface="Calibri" pitchFamily="34" charset="-122"/>
                <a:cs typeface="Calibri" pitchFamily="34" charset="-120"/>
              </a:rPr>
              <a:t>MARYLAND SHARE</a:t>
            </a:r>
            <a:endParaRPr lang="en-US" sz="1050" dirty="0"/>
          </a:p>
        </p:txBody>
      </p:sp>
      <p:sp>
        <p:nvSpPr>
          <p:cNvPr id="16" name="Shape 14"/>
          <p:cNvSpPr/>
          <p:nvPr/>
        </p:nvSpPr>
        <p:spPr>
          <a:xfrm>
            <a:off x="6922008" y="1463040"/>
            <a:ext cx="1947672" cy="107899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7" name="Shape 15"/>
          <p:cNvSpPr/>
          <p:nvPr/>
        </p:nvSpPr>
        <p:spPr>
          <a:xfrm>
            <a:off x="6922008" y="1463040"/>
            <a:ext cx="1947672" cy="64008"/>
          </a:xfrm>
          <a:prstGeom prst="rect">
            <a:avLst/>
          </a:prstGeom>
          <a:solidFill>
            <a:srgbClr val="0E8E86"/>
          </a:solidFill>
          <a:ln/>
        </p:spPr>
        <p:txBody>
          <a:bodyPr/>
          <a:lstStyle/>
          <a:p>
            <a:endParaRPr lang="en-US"/>
          </a:p>
        </p:txBody>
      </p:sp>
      <p:sp>
        <p:nvSpPr>
          <p:cNvPr id="18" name="Text 16"/>
          <p:cNvSpPr/>
          <p:nvPr/>
        </p:nvSpPr>
        <p:spPr>
          <a:xfrm>
            <a:off x="7031736" y="1737360"/>
            <a:ext cx="1728216" cy="457200"/>
          </a:xfrm>
          <a:prstGeom prst="rect">
            <a:avLst/>
          </a:prstGeom>
          <a:noFill/>
          <a:ln/>
        </p:spPr>
        <p:txBody>
          <a:bodyPr wrap="square" lIns="0" tIns="0" rIns="0" bIns="0" rtlCol="0" anchor="ctr"/>
          <a:lstStyle/>
          <a:p>
            <a:pPr marL="0" indent="0" algn="ctr">
              <a:buNone/>
            </a:pPr>
            <a:r>
              <a:rPr lang="en-US" sz="2100" b="1" dirty="0">
                <a:solidFill>
                  <a:srgbClr val="0A6B65"/>
                </a:solidFill>
                <a:latin typeface="Trebuchet MS" pitchFamily="34" charset="0"/>
                <a:ea typeface="Trebuchet MS" pitchFamily="34" charset="-122"/>
                <a:cs typeface="Trebuchet MS" pitchFamily="34" charset="-120"/>
              </a:rPr>
              <a:t>Tech &amp; Acc.</a:t>
            </a:r>
            <a:endParaRPr lang="en-US" sz="2100" dirty="0"/>
          </a:p>
        </p:txBody>
      </p:sp>
      <p:sp>
        <p:nvSpPr>
          <p:cNvPr id="19" name="Text 17"/>
          <p:cNvSpPr/>
          <p:nvPr/>
        </p:nvSpPr>
        <p:spPr>
          <a:xfrm>
            <a:off x="7031736" y="2212848"/>
            <a:ext cx="1728216" cy="274320"/>
          </a:xfrm>
          <a:prstGeom prst="rect">
            <a:avLst/>
          </a:prstGeom>
          <a:noFill/>
          <a:ln/>
        </p:spPr>
        <p:txBody>
          <a:bodyPr wrap="square" lIns="0" tIns="0" rIns="0" bIns="0" rtlCol="0" anchor="ctr"/>
          <a:lstStyle/>
          <a:p>
            <a:pPr marL="0" indent="0" algn="ctr">
              <a:buNone/>
            </a:pPr>
            <a:r>
              <a:rPr lang="en-US" sz="1050" b="1" kern="0" spc="100" dirty="0">
                <a:solidFill>
                  <a:srgbClr val="5C6675"/>
                </a:solidFill>
                <a:latin typeface="Calibri" pitchFamily="34" charset="0"/>
                <a:ea typeface="Calibri" pitchFamily="34" charset="-122"/>
                <a:cs typeface="Calibri" pitchFamily="34" charset="-120"/>
              </a:rPr>
              <a:t>TOP CATEGORY</a:t>
            </a:r>
            <a:endParaRPr lang="en-US" sz="1050" dirty="0"/>
          </a:p>
        </p:txBody>
      </p:sp>
      <p:sp>
        <p:nvSpPr>
          <p:cNvPr id="20" name="Text 18"/>
          <p:cNvSpPr/>
          <p:nvPr/>
        </p:nvSpPr>
        <p:spPr>
          <a:xfrm>
            <a:off x="502920" y="2852928"/>
            <a:ext cx="8138160" cy="274320"/>
          </a:xfrm>
          <a:prstGeom prst="rect">
            <a:avLst/>
          </a:prstGeom>
          <a:noFill/>
          <a:ln/>
        </p:spPr>
        <p:txBody>
          <a:bodyPr wrap="square" lIns="0" tIns="0" rIns="0" bIns="0" rtlCol="0" anchor="ctr"/>
          <a:lstStyle/>
          <a:p>
            <a:pPr marL="0" indent="0">
              <a:buNone/>
            </a:pPr>
            <a:r>
              <a:rPr lang="en-US" sz="1200" b="1" kern="0" spc="200" dirty="0">
                <a:solidFill>
                  <a:srgbClr val="0E8E86"/>
                </a:solidFill>
                <a:latin typeface="Trebuchet MS" pitchFamily="34" charset="0"/>
                <a:ea typeface="Trebuchet MS" pitchFamily="34" charset="-122"/>
                <a:cs typeface="Trebuchet MS" pitchFamily="34" charset="-120"/>
              </a:rPr>
              <a:t>KEY FINDINGS</a:t>
            </a:r>
            <a:endParaRPr lang="en-US" sz="1200" dirty="0"/>
          </a:p>
        </p:txBody>
      </p:sp>
      <p:sp>
        <p:nvSpPr>
          <p:cNvPr id="21" name="Shape 19"/>
          <p:cNvSpPr/>
          <p:nvPr/>
        </p:nvSpPr>
        <p:spPr>
          <a:xfrm>
            <a:off x="502920" y="3200400"/>
            <a:ext cx="3977640" cy="141732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22" name="Shape 20"/>
          <p:cNvSpPr/>
          <p:nvPr/>
        </p:nvSpPr>
        <p:spPr>
          <a:xfrm>
            <a:off x="502920" y="3200400"/>
            <a:ext cx="73152" cy="1417320"/>
          </a:xfrm>
          <a:prstGeom prst="rect">
            <a:avLst/>
          </a:prstGeom>
          <a:solidFill>
            <a:srgbClr val="8ED0CB"/>
          </a:solidFill>
          <a:ln/>
        </p:spPr>
        <p:txBody>
          <a:bodyPr/>
          <a:lstStyle/>
          <a:p>
            <a:endParaRPr lang="en-US"/>
          </a:p>
        </p:txBody>
      </p:sp>
      <p:sp>
        <p:nvSpPr>
          <p:cNvPr id="23" name="Text 21"/>
          <p:cNvSpPr/>
          <p:nvPr/>
        </p:nvSpPr>
        <p:spPr>
          <a:xfrm>
            <a:off x="758952" y="3364992"/>
            <a:ext cx="3520440" cy="365760"/>
          </a:xfrm>
          <a:prstGeom prst="rect">
            <a:avLst/>
          </a:prstGeom>
          <a:noFill/>
          <a:ln/>
        </p:spPr>
        <p:txBody>
          <a:bodyPr wrap="square" lIns="0" tIns="0" rIns="0" bIns="0" rtlCol="0" anchor="ctr"/>
          <a:lstStyle/>
          <a:p>
            <a:pPr marL="0" indent="0">
              <a:buNone/>
            </a:pPr>
            <a:r>
              <a:rPr lang="en-US" sz="1500" b="1" dirty="0">
                <a:solidFill>
                  <a:srgbClr val="1E2531"/>
                </a:solidFill>
                <a:latin typeface="Trebuchet MS" pitchFamily="34" charset="0"/>
                <a:ea typeface="Trebuchet MS" pitchFamily="34" charset="-122"/>
                <a:cs typeface="Trebuchet MS" pitchFamily="34" charset="-120"/>
              </a:rPr>
              <a:t>Two markets drive the region</a:t>
            </a:r>
            <a:endParaRPr lang="en-US" sz="1500" dirty="0"/>
          </a:p>
        </p:txBody>
      </p:sp>
      <p:sp>
        <p:nvSpPr>
          <p:cNvPr id="24" name="Text 22"/>
          <p:cNvSpPr/>
          <p:nvPr/>
        </p:nvSpPr>
        <p:spPr>
          <a:xfrm>
            <a:off x="758952" y="3767328"/>
            <a:ext cx="3520440" cy="777240"/>
          </a:xfrm>
          <a:prstGeom prst="rect">
            <a:avLst/>
          </a:prstGeom>
          <a:noFill/>
          <a:ln/>
        </p:spPr>
        <p:txBody>
          <a:bodyPr wrap="square" lIns="0" tIns="0" rIns="0" bIns="0" rtlCol="0" anchor="ctr"/>
          <a:lstStyle/>
          <a:p>
            <a:pPr marL="0" indent="0">
              <a:lnSpc>
                <a:spcPct val="105000"/>
              </a:lnSpc>
              <a:buNone/>
            </a:pPr>
            <a:r>
              <a:rPr lang="en-US" sz="1200" dirty="0">
                <a:solidFill>
                  <a:srgbClr val="5C6675"/>
                </a:solidFill>
                <a:latin typeface="Calibri" pitchFamily="34" charset="0"/>
                <a:ea typeface="Calibri" pitchFamily="34" charset="-122"/>
                <a:cs typeface="Calibri" pitchFamily="34" charset="-120"/>
              </a:rPr>
              <a:t>Maryland and Massachusetts together generated over 70% of Northeast revenue — the strongest-performing markets in the region.</a:t>
            </a:r>
            <a:endParaRPr lang="en-US" sz="1200" dirty="0"/>
          </a:p>
        </p:txBody>
      </p:sp>
      <p:sp>
        <p:nvSpPr>
          <p:cNvPr id="25" name="Shape 23"/>
          <p:cNvSpPr/>
          <p:nvPr/>
        </p:nvSpPr>
        <p:spPr>
          <a:xfrm>
            <a:off x="4663440" y="3200400"/>
            <a:ext cx="3977640" cy="141732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26" name="Shape 24"/>
          <p:cNvSpPr/>
          <p:nvPr/>
        </p:nvSpPr>
        <p:spPr>
          <a:xfrm>
            <a:off x="4663440" y="3200400"/>
            <a:ext cx="73152" cy="1417320"/>
          </a:xfrm>
          <a:prstGeom prst="rect">
            <a:avLst/>
          </a:prstGeom>
          <a:solidFill>
            <a:srgbClr val="8ED0CB"/>
          </a:solidFill>
          <a:ln/>
        </p:spPr>
        <p:txBody>
          <a:bodyPr/>
          <a:lstStyle/>
          <a:p>
            <a:endParaRPr lang="en-US"/>
          </a:p>
        </p:txBody>
      </p:sp>
      <p:sp>
        <p:nvSpPr>
          <p:cNvPr id="27" name="Text 25"/>
          <p:cNvSpPr/>
          <p:nvPr/>
        </p:nvSpPr>
        <p:spPr>
          <a:xfrm>
            <a:off x="4919472" y="3364992"/>
            <a:ext cx="3520440" cy="365760"/>
          </a:xfrm>
          <a:prstGeom prst="rect">
            <a:avLst/>
          </a:prstGeom>
          <a:noFill/>
          <a:ln/>
        </p:spPr>
        <p:txBody>
          <a:bodyPr wrap="square" lIns="0" tIns="0" rIns="0" bIns="0" rtlCol="0" anchor="ctr"/>
          <a:lstStyle/>
          <a:p>
            <a:pPr marL="0" indent="0">
              <a:buNone/>
            </a:pPr>
            <a:r>
              <a:rPr lang="en-US" sz="1500" b="1" dirty="0">
                <a:solidFill>
                  <a:srgbClr val="1E2531"/>
                </a:solidFill>
                <a:latin typeface="Trebuchet MS" pitchFamily="34" charset="0"/>
                <a:ea typeface="Trebuchet MS" pitchFamily="34" charset="-122"/>
                <a:cs typeface="Trebuchet MS" pitchFamily="34" charset="-120"/>
              </a:rPr>
              <a:t>Technology leads all categories</a:t>
            </a:r>
            <a:endParaRPr lang="en-US" sz="1500" dirty="0"/>
          </a:p>
        </p:txBody>
      </p:sp>
      <p:sp>
        <p:nvSpPr>
          <p:cNvPr id="28" name="Text 26"/>
          <p:cNvSpPr/>
          <p:nvPr/>
        </p:nvSpPr>
        <p:spPr>
          <a:xfrm>
            <a:off x="4919472" y="3767328"/>
            <a:ext cx="3520440" cy="777240"/>
          </a:xfrm>
          <a:prstGeom prst="rect">
            <a:avLst/>
          </a:prstGeom>
          <a:noFill/>
          <a:ln/>
        </p:spPr>
        <p:txBody>
          <a:bodyPr wrap="square" lIns="0" tIns="0" rIns="0" bIns="0" rtlCol="0" anchor="ctr"/>
          <a:lstStyle/>
          <a:p>
            <a:pPr marL="0" indent="0">
              <a:lnSpc>
                <a:spcPct val="105000"/>
              </a:lnSpc>
              <a:buNone/>
            </a:pPr>
            <a:r>
              <a:rPr lang="en-US" sz="1200" dirty="0">
                <a:solidFill>
                  <a:srgbClr val="5C6675"/>
                </a:solidFill>
                <a:latin typeface="Calibri" pitchFamily="34" charset="0"/>
                <a:ea typeface="Calibri" pitchFamily="34" charset="-122"/>
                <a:cs typeface="Calibri" pitchFamily="34" charset="-120"/>
              </a:rPr>
              <a:t>Technology &amp; Accessories significantly outperformed every other category, remaining the primary revenue driver for EmporiUm in the Northeast.</a:t>
            </a:r>
            <a:endParaRPr lang="en-US" sz="1200" dirty="0"/>
          </a:p>
        </p:txBody>
      </p:sp>
      <p:sp>
        <p:nvSpPr>
          <p:cNvPr id="29" name="Text 27"/>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30" name="Text 28"/>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6"/>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SALES TREND ANALYSIS</a:t>
            </a:r>
            <a:endParaRPr lang="en-US" sz="1250" dirty="0"/>
          </a:p>
        </p:txBody>
      </p:sp>
      <p:sp>
        <p:nvSpPr>
          <p:cNvPr id="3" name="Text 1"/>
          <p:cNvSpPr/>
          <p:nvPr/>
        </p:nvSpPr>
        <p:spPr>
          <a:xfrm>
            <a:off x="502920" y="676656"/>
            <a:ext cx="8229600" cy="640080"/>
          </a:xfrm>
          <a:prstGeom prst="rect">
            <a:avLst/>
          </a:prstGeom>
          <a:noFill/>
          <a:ln/>
        </p:spPr>
        <p:txBody>
          <a:bodyPr wrap="square" lIns="0" tIns="0" rIns="0" bIns="0" rtlCol="0" anchor="t"/>
          <a:lstStyle/>
          <a:p>
            <a:pPr marL="0" indent="0" algn="l">
              <a:buNone/>
            </a:pPr>
            <a:r>
              <a:rPr lang="en-US" sz="2300" b="1" dirty="0">
                <a:solidFill>
                  <a:srgbClr val="1E2531"/>
                </a:solidFill>
                <a:latin typeface="Trebuchet MS" pitchFamily="34" charset="0"/>
                <a:ea typeface="Trebuchet MS" pitchFamily="34" charset="-122"/>
                <a:cs typeface="Trebuchet MS" pitchFamily="34" charset="-120"/>
              </a:rPr>
              <a:t>Seasonal demand peaks in back-to-school and holidays</a:t>
            </a:r>
            <a:endParaRPr lang="en-US" sz="2300" dirty="0"/>
          </a:p>
        </p:txBody>
      </p:sp>
      <p:sp>
        <p:nvSpPr>
          <p:cNvPr id="4" name="Shape 2"/>
          <p:cNvSpPr/>
          <p:nvPr/>
        </p:nvSpPr>
        <p:spPr>
          <a:xfrm>
            <a:off x="502920" y="1481328"/>
            <a:ext cx="5532120" cy="315468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graphicFrame>
        <p:nvGraphicFramePr>
          <p:cNvPr id="5" name="Chart 0"/>
          <p:cNvGraphicFramePr/>
          <p:nvPr/>
        </p:nvGraphicFramePr>
        <p:xfrm>
          <a:off x="640080" y="1627632"/>
          <a:ext cx="530352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263640" y="1554480"/>
            <a:ext cx="2377440" cy="274320"/>
          </a:xfrm>
          <a:prstGeom prst="rect">
            <a:avLst/>
          </a:prstGeom>
          <a:noFill/>
          <a:ln/>
        </p:spPr>
        <p:txBody>
          <a:bodyPr wrap="square" lIns="0" tIns="0" rIns="0" bIns="0" rtlCol="0" anchor="ctr"/>
          <a:lstStyle/>
          <a:p>
            <a:pPr marL="0" indent="0">
              <a:buNone/>
            </a:pPr>
            <a:r>
              <a:rPr lang="en-US" sz="1200" b="1" kern="0" spc="150" dirty="0">
                <a:solidFill>
                  <a:srgbClr val="0E8E86"/>
                </a:solidFill>
                <a:latin typeface="Trebuchet MS" pitchFamily="34" charset="0"/>
                <a:ea typeface="Trebuchet MS" pitchFamily="34" charset="-122"/>
                <a:cs typeface="Trebuchet MS" pitchFamily="34" charset="-120"/>
              </a:rPr>
              <a:t>WHAT THIS SHOWS</a:t>
            </a:r>
            <a:endParaRPr lang="en-US" sz="1200" dirty="0"/>
          </a:p>
        </p:txBody>
      </p:sp>
      <p:sp>
        <p:nvSpPr>
          <p:cNvPr id="7" name="Text 4"/>
          <p:cNvSpPr/>
          <p:nvPr/>
        </p:nvSpPr>
        <p:spPr>
          <a:xfrm>
            <a:off x="6263640" y="1938528"/>
            <a:ext cx="2468880" cy="2697480"/>
          </a:xfrm>
          <a:prstGeom prst="rect">
            <a:avLst/>
          </a:prstGeom>
          <a:noFill/>
          <a:ln/>
        </p:spPr>
        <p:txBody>
          <a:bodyPr wrap="square" lIns="0" tIns="0" rIns="0" bIns="0" rtlCol="0" anchor="ctr"/>
          <a:lstStyle/>
          <a:p>
            <a:pPr marL="177800" indent="-177800">
              <a:lnSpc>
                <a:spcPct val="105000"/>
              </a:lnSpc>
              <a:spcAft>
                <a:spcPts val="1000"/>
              </a:spcAft>
              <a:buSzPct val="100000"/>
              <a:buChar char="•"/>
            </a:pPr>
            <a:r>
              <a:rPr lang="en-US" sz="1250" dirty="0">
                <a:solidFill>
                  <a:srgbClr val="1E2531"/>
                </a:solidFill>
                <a:latin typeface="Calibri" pitchFamily="34" charset="0"/>
                <a:ea typeface="Calibri" pitchFamily="34" charset="-122"/>
                <a:cs typeface="Calibri" pitchFamily="34" charset="-120"/>
              </a:rPr>
              <a:t>Sales follow a cyclical pattern, peaking in the back-to-school and holiday seasons.</a:t>
            </a:r>
            <a:endParaRPr lang="en-US" sz="1250" dirty="0"/>
          </a:p>
          <a:p>
            <a:pPr marL="177800" indent="-177800">
              <a:lnSpc>
                <a:spcPct val="105000"/>
              </a:lnSpc>
              <a:spcAft>
                <a:spcPts val="1000"/>
              </a:spcAft>
              <a:buSzPct val="100000"/>
              <a:buChar char="•"/>
            </a:pPr>
            <a:r>
              <a:rPr lang="en-US" sz="1250" dirty="0">
                <a:solidFill>
                  <a:srgbClr val="1E2531"/>
                </a:solidFill>
                <a:latin typeface="Calibri" pitchFamily="34" charset="0"/>
                <a:ea typeface="Calibri" pitchFamily="34" charset="-122"/>
                <a:cs typeface="Calibri" pitchFamily="34" charset="-120"/>
              </a:rPr>
              <a:t>Revenue stayed consistent across both online and store channels through the period.</a:t>
            </a:r>
            <a:endParaRPr lang="en-US" sz="1250" dirty="0"/>
          </a:p>
          <a:p>
            <a:pPr marL="177800" indent="-177800">
              <a:lnSpc>
                <a:spcPct val="105000"/>
              </a:lnSpc>
              <a:spcAft>
                <a:spcPts val="1000"/>
              </a:spcAft>
              <a:buSzPct val="100000"/>
              <a:buChar char="•"/>
            </a:pPr>
            <a:r>
              <a:rPr lang="en-US" sz="1250" dirty="0">
                <a:solidFill>
                  <a:srgbClr val="1E2531"/>
                </a:solidFill>
                <a:latin typeface="Calibri" pitchFamily="34" charset="0"/>
                <a:ea typeface="Calibri" pitchFamily="34" charset="-122"/>
                <a:cs typeface="Calibri" pitchFamily="34" charset="-120"/>
              </a:rPr>
              <a:t>Peak periods signal where to focus promotions, staffing, and inventory planning.</a:t>
            </a:r>
            <a:endParaRPr lang="en-US" sz="1250" dirty="0"/>
          </a:p>
        </p:txBody>
      </p:sp>
      <p:sp>
        <p:nvSpPr>
          <p:cNvPr id="8" name="Text 5"/>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9" name="Text 6"/>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6"/>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SALES BY STATE</a:t>
            </a:r>
            <a:endParaRPr lang="en-US" sz="1250" dirty="0"/>
          </a:p>
        </p:txBody>
      </p:sp>
      <p:sp>
        <p:nvSpPr>
          <p:cNvPr id="3" name="Text 1"/>
          <p:cNvSpPr/>
          <p:nvPr/>
        </p:nvSpPr>
        <p:spPr>
          <a:xfrm>
            <a:off x="502920" y="676656"/>
            <a:ext cx="8229600" cy="640080"/>
          </a:xfrm>
          <a:prstGeom prst="rect">
            <a:avLst/>
          </a:prstGeom>
          <a:noFill/>
          <a:ln/>
        </p:spPr>
        <p:txBody>
          <a:bodyPr wrap="square" lIns="0" tIns="0" rIns="0" bIns="0" rtlCol="0" anchor="t"/>
          <a:lstStyle/>
          <a:p>
            <a:pPr marL="0" indent="0" algn="l">
              <a:buNone/>
            </a:pPr>
            <a:r>
              <a:rPr lang="en-US" sz="2300" b="1" dirty="0">
                <a:solidFill>
                  <a:srgbClr val="1E2531"/>
                </a:solidFill>
                <a:latin typeface="Trebuchet MS" pitchFamily="34" charset="0"/>
                <a:ea typeface="Trebuchet MS" pitchFamily="34" charset="-122"/>
                <a:cs typeface="Trebuchet MS" pitchFamily="34" charset="-120"/>
              </a:rPr>
              <a:t>Revenue concentrated in Maryland and Massachusetts</a:t>
            </a:r>
            <a:endParaRPr lang="en-US" sz="2300" dirty="0"/>
          </a:p>
        </p:txBody>
      </p:sp>
      <p:sp>
        <p:nvSpPr>
          <p:cNvPr id="4" name="Shape 2"/>
          <p:cNvSpPr/>
          <p:nvPr/>
        </p:nvSpPr>
        <p:spPr>
          <a:xfrm>
            <a:off x="502920" y="1481328"/>
            <a:ext cx="4572000" cy="315468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graphicFrame>
        <p:nvGraphicFramePr>
          <p:cNvPr id="5" name="Chart 0"/>
          <p:cNvGraphicFramePr/>
          <p:nvPr/>
        </p:nvGraphicFramePr>
        <p:xfrm>
          <a:off x="621792" y="1627632"/>
          <a:ext cx="434340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285232" y="1481328"/>
            <a:ext cx="3355848" cy="566928"/>
          </a:xfrm>
          <a:prstGeom prst="rect">
            <a:avLst/>
          </a:prstGeom>
          <a:solidFill>
            <a:srgbClr val="FFFFFF"/>
          </a:solidFill>
          <a:ln w="12700">
            <a:solidFill>
              <a:srgbClr val="E2EDEB"/>
            </a:solidFill>
            <a:prstDash val="solid"/>
          </a:ln>
        </p:spPr>
        <p:txBody>
          <a:bodyPr/>
          <a:lstStyle/>
          <a:p>
            <a:endParaRPr lang="en-US"/>
          </a:p>
        </p:txBody>
      </p:sp>
      <p:sp>
        <p:nvSpPr>
          <p:cNvPr id="7" name="Text 4"/>
          <p:cNvSpPr/>
          <p:nvPr/>
        </p:nvSpPr>
        <p:spPr>
          <a:xfrm>
            <a:off x="5449824" y="1536192"/>
            <a:ext cx="1828800" cy="457200"/>
          </a:xfrm>
          <a:prstGeom prst="rect">
            <a:avLst/>
          </a:prstGeom>
          <a:noFill/>
          <a:ln/>
        </p:spPr>
        <p:txBody>
          <a:bodyPr wrap="square" lIns="0" tIns="0" rIns="0" bIns="0" rtlCol="0" anchor="ctr"/>
          <a:lstStyle/>
          <a:p>
            <a:pPr marL="0" indent="0">
              <a:buNone/>
            </a:pPr>
            <a:r>
              <a:rPr lang="en-US" sz="1300" b="1" dirty="0">
                <a:solidFill>
                  <a:srgbClr val="1E2531"/>
                </a:solidFill>
                <a:latin typeface="Trebuchet MS" pitchFamily="34" charset="0"/>
                <a:ea typeface="Trebuchet MS" pitchFamily="34" charset="-122"/>
                <a:cs typeface="Trebuchet MS" pitchFamily="34" charset="-120"/>
              </a:rPr>
              <a:t>Maryland</a:t>
            </a:r>
            <a:endParaRPr lang="en-US" sz="1300" dirty="0"/>
          </a:p>
        </p:txBody>
      </p:sp>
      <p:sp>
        <p:nvSpPr>
          <p:cNvPr id="8" name="Text 5"/>
          <p:cNvSpPr/>
          <p:nvPr/>
        </p:nvSpPr>
        <p:spPr>
          <a:xfrm>
            <a:off x="7223760" y="1527048"/>
            <a:ext cx="868680" cy="274320"/>
          </a:xfrm>
          <a:prstGeom prst="rect">
            <a:avLst/>
          </a:prstGeom>
          <a:noFill/>
          <a:ln/>
        </p:spPr>
        <p:txBody>
          <a:bodyPr wrap="square" lIns="0" tIns="0" rIns="0" bIns="0" rtlCol="0" anchor="ctr"/>
          <a:lstStyle/>
          <a:p>
            <a:pPr marL="0" indent="0" algn="r">
              <a:buNone/>
            </a:pPr>
            <a:r>
              <a:rPr lang="en-US" sz="1350" b="1" dirty="0">
                <a:solidFill>
                  <a:srgbClr val="0A6B65"/>
                </a:solidFill>
                <a:latin typeface="Trebuchet MS" pitchFamily="34" charset="0"/>
                <a:ea typeface="Trebuchet MS" pitchFamily="34" charset="-122"/>
                <a:cs typeface="Trebuchet MS" pitchFamily="34" charset="-120"/>
              </a:rPr>
              <a:t>$12.89M</a:t>
            </a:r>
            <a:endParaRPr lang="en-US" sz="1350" dirty="0"/>
          </a:p>
        </p:txBody>
      </p:sp>
      <p:sp>
        <p:nvSpPr>
          <p:cNvPr id="9" name="Text 6"/>
          <p:cNvSpPr/>
          <p:nvPr/>
        </p:nvSpPr>
        <p:spPr>
          <a:xfrm>
            <a:off x="7223760" y="1783080"/>
            <a:ext cx="868680" cy="219456"/>
          </a:xfrm>
          <a:prstGeom prst="rect">
            <a:avLst/>
          </a:prstGeom>
          <a:noFill/>
          <a:ln/>
        </p:spPr>
        <p:txBody>
          <a:bodyPr wrap="square" lIns="0" tIns="0" rIns="0" bIns="0" rtlCol="0" anchor="ctr"/>
          <a:lstStyle/>
          <a:p>
            <a:pPr marL="0" indent="0" algn="r">
              <a:buNone/>
            </a:pPr>
            <a:r>
              <a:rPr lang="en-US" sz="950" dirty="0">
                <a:solidFill>
                  <a:srgbClr val="5C6675"/>
                </a:solidFill>
                <a:latin typeface="Calibri" pitchFamily="34" charset="0"/>
                <a:ea typeface="Calibri" pitchFamily="34" charset="-122"/>
                <a:cs typeface="Calibri" pitchFamily="34" charset="-120"/>
              </a:rPr>
              <a:t>39.06%</a:t>
            </a:r>
            <a:endParaRPr lang="en-US" sz="950" dirty="0"/>
          </a:p>
        </p:txBody>
      </p:sp>
      <p:sp>
        <p:nvSpPr>
          <p:cNvPr id="10" name="Shape 7"/>
          <p:cNvSpPr/>
          <p:nvPr/>
        </p:nvSpPr>
        <p:spPr>
          <a:xfrm>
            <a:off x="5285232" y="2157984"/>
            <a:ext cx="3355848" cy="566928"/>
          </a:xfrm>
          <a:prstGeom prst="rect">
            <a:avLst/>
          </a:prstGeom>
          <a:solidFill>
            <a:srgbClr val="FFFFFF"/>
          </a:solidFill>
          <a:ln w="12700">
            <a:solidFill>
              <a:srgbClr val="E2EDEB"/>
            </a:solidFill>
            <a:prstDash val="solid"/>
          </a:ln>
        </p:spPr>
        <p:txBody>
          <a:bodyPr/>
          <a:lstStyle/>
          <a:p>
            <a:endParaRPr lang="en-US"/>
          </a:p>
        </p:txBody>
      </p:sp>
      <p:sp>
        <p:nvSpPr>
          <p:cNvPr id="11" name="Text 8"/>
          <p:cNvSpPr/>
          <p:nvPr/>
        </p:nvSpPr>
        <p:spPr>
          <a:xfrm>
            <a:off x="5449824" y="2212848"/>
            <a:ext cx="1828800" cy="457200"/>
          </a:xfrm>
          <a:prstGeom prst="rect">
            <a:avLst/>
          </a:prstGeom>
          <a:noFill/>
          <a:ln/>
        </p:spPr>
        <p:txBody>
          <a:bodyPr wrap="square" lIns="0" tIns="0" rIns="0" bIns="0" rtlCol="0" anchor="ctr"/>
          <a:lstStyle/>
          <a:p>
            <a:pPr marL="0" indent="0">
              <a:buNone/>
            </a:pPr>
            <a:r>
              <a:rPr lang="en-US" sz="1300" b="1" dirty="0">
                <a:solidFill>
                  <a:srgbClr val="1E2531"/>
                </a:solidFill>
                <a:latin typeface="Trebuchet MS" pitchFamily="34" charset="0"/>
                <a:ea typeface="Trebuchet MS" pitchFamily="34" charset="-122"/>
                <a:cs typeface="Trebuchet MS" pitchFamily="34" charset="-120"/>
              </a:rPr>
              <a:t>Massachusetts</a:t>
            </a:r>
            <a:endParaRPr lang="en-US" sz="1300" dirty="0"/>
          </a:p>
        </p:txBody>
      </p:sp>
      <p:sp>
        <p:nvSpPr>
          <p:cNvPr id="12" name="Text 9"/>
          <p:cNvSpPr/>
          <p:nvPr/>
        </p:nvSpPr>
        <p:spPr>
          <a:xfrm>
            <a:off x="7223760" y="2203704"/>
            <a:ext cx="868680" cy="274320"/>
          </a:xfrm>
          <a:prstGeom prst="rect">
            <a:avLst/>
          </a:prstGeom>
          <a:noFill/>
          <a:ln/>
        </p:spPr>
        <p:txBody>
          <a:bodyPr wrap="square" lIns="0" tIns="0" rIns="0" bIns="0" rtlCol="0" anchor="ctr"/>
          <a:lstStyle/>
          <a:p>
            <a:pPr marL="0" indent="0" algn="r">
              <a:buNone/>
            </a:pPr>
            <a:r>
              <a:rPr lang="en-US" sz="1350" b="1" dirty="0">
                <a:solidFill>
                  <a:srgbClr val="0A6B65"/>
                </a:solidFill>
                <a:latin typeface="Trebuchet MS" pitchFamily="34" charset="0"/>
                <a:ea typeface="Trebuchet MS" pitchFamily="34" charset="-122"/>
                <a:cs typeface="Trebuchet MS" pitchFamily="34" charset="-120"/>
              </a:rPr>
              <a:t>$9.92M</a:t>
            </a:r>
            <a:endParaRPr lang="en-US" sz="1350" dirty="0"/>
          </a:p>
        </p:txBody>
      </p:sp>
      <p:sp>
        <p:nvSpPr>
          <p:cNvPr id="13" name="Text 10"/>
          <p:cNvSpPr/>
          <p:nvPr/>
        </p:nvSpPr>
        <p:spPr>
          <a:xfrm>
            <a:off x="7223760" y="2459736"/>
            <a:ext cx="868680" cy="219456"/>
          </a:xfrm>
          <a:prstGeom prst="rect">
            <a:avLst/>
          </a:prstGeom>
          <a:noFill/>
          <a:ln/>
        </p:spPr>
        <p:txBody>
          <a:bodyPr wrap="square" lIns="0" tIns="0" rIns="0" bIns="0" rtlCol="0" anchor="ctr"/>
          <a:lstStyle/>
          <a:p>
            <a:pPr marL="0" indent="0" algn="r">
              <a:buNone/>
            </a:pPr>
            <a:r>
              <a:rPr lang="en-US" sz="950" dirty="0">
                <a:solidFill>
                  <a:srgbClr val="5C6675"/>
                </a:solidFill>
                <a:latin typeface="Calibri" pitchFamily="34" charset="0"/>
                <a:ea typeface="Calibri" pitchFamily="34" charset="-122"/>
                <a:cs typeface="Calibri" pitchFamily="34" charset="-120"/>
              </a:rPr>
              <a:t>30.06%</a:t>
            </a:r>
            <a:endParaRPr lang="en-US" sz="950" dirty="0"/>
          </a:p>
        </p:txBody>
      </p:sp>
      <p:sp>
        <p:nvSpPr>
          <p:cNvPr id="14" name="Shape 11"/>
          <p:cNvSpPr/>
          <p:nvPr/>
        </p:nvSpPr>
        <p:spPr>
          <a:xfrm>
            <a:off x="5285232" y="2834640"/>
            <a:ext cx="3355848" cy="566928"/>
          </a:xfrm>
          <a:prstGeom prst="rect">
            <a:avLst/>
          </a:prstGeom>
          <a:solidFill>
            <a:srgbClr val="FFFFFF"/>
          </a:solidFill>
          <a:ln w="12700">
            <a:solidFill>
              <a:srgbClr val="E2EDEB"/>
            </a:solidFill>
            <a:prstDash val="solid"/>
          </a:ln>
        </p:spPr>
        <p:txBody>
          <a:bodyPr/>
          <a:lstStyle/>
          <a:p>
            <a:endParaRPr lang="en-US"/>
          </a:p>
        </p:txBody>
      </p:sp>
      <p:sp>
        <p:nvSpPr>
          <p:cNvPr id="15" name="Text 12"/>
          <p:cNvSpPr/>
          <p:nvPr/>
        </p:nvSpPr>
        <p:spPr>
          <a:xfrm>
            <a:off x="5449824" y="2889504"/>
            <a:ext cx="1828800" cy="457200"/>
          </a:xfrm>
          <a:prstGeom prst="rect">
            <a:avLst/>
          </a:prstGeom>
          <a:noFill/>
          <a:ln/>
        </p:spPr>
        <p:txBody>
          <a:bodyPr wrap="square" lIns="0" tIns="0" rIns="0" bIns="0" rtlCol="0" anchor="ctr"/>
          <a:lstStyle/>
          <a:p>
            <a:pPr marL="0" indent="0">
              <a:buNone/>
            </a:pPr>
            <a:r>
              <a:rPr lang="en-US" sz="1300" b="1" dirty="0">
                <a:solidFill>
                  <a:srgbClr val="1E2531"/>
                </a:solidFill>
                <a:latin typeface="Trebuchet MS" pitchFamily="34" charset="0"/>
                <a:ea typeface="Trebuchet MS" pitchFamily="34" charset="-122"/>
                <a:cs typeface="Trebuchet MS" pitchFamily="34" charset="-120"/>
              </a:rPr>
              <a:t>New Jersey</a:t>
            </a:r>
            <a:endParaRPr lang="en-US" sz="1300" dirty="0"/>
          </a:p>
        </p:txBody>
      </p:sp>
      <p:sp>
        <p:nvSpPr>
          <p:cNvPr id="16" name="Text 13"/>
          <p:cNvSpPr/>
          <p:nvPr/>
        </p:nvSpPr>
        <p:spPr>
          <a:xfrm>
            <a:off x="7223760" y="2880360"/>
            <a:ext cx="868680" cy="274320"/>
          </a:xfrm>
          <a:prstGeom prst="rect">
            <a:avLst/>
          </a:prstGeom>
          <a:noFill/>
          <a:ln/>
        </p:spPr>
        <p:txBody>
          <a:bodyPr wrap="square" lIns="0" tIns="0" rIns="0" bIns="0" rtlCol="0" anchor="ctr"/>
          <a:lstStyle/>
          <a:p>
            <a:pPr marL="0" indent="0" algn="r">
              <a:buNone/>
            </a:pPr>
            <a:r>
              <a:rPr lang="en-US" sz="1350" b="1" dirty="0">
                <a:solidFill>
                  <a:srgbClr val="0A6B65"/>
                </a:solidFill>
                <a:latin typeface="Trebuchet MS" pitchFamily="34" charset="0"/>
                <a:ea typeface="Trebuchet MS" pitchFamily="34" charset="-122"/>
                <a:cs typeface="Trebuchet MS" pitchFamily="34" charset="-120"/>
              </a:rPr>
              <a:t>$7.42M</a:t>
            </a:r>
            <a:endParaRPr lang="en-US" sz="1350" dirty="0"/>
          </a:p>
        </p:txBody>
      </p:sp>
      <p:sp>
        <p:nvSpPr>
          <p:cNvPr id="17" name="Text 14"/>
          <p:cNvSpPr/>
          <p:nvPr/>
        </p:nvSpPr>
        <p:spPr>
          <a:xfrm>
            <a:off x="7223760" y="3136392"/>
            <a:ext cx="868680" cy="219456"/>
          </a:xfrm>
          <a:prstGeom prst="rect">
            <a:avLst/>
          </a:prstGeom>
          <a:noFill/>
          <a:ln/>
        </p:spPr>
        <p:txBody>
          <a:bodyPr wrap="square" lIns="0" tIns="0" rIns="0" bIns="0" rtlCol="0" anchor="ctr"/>
          <a:lstStyle/>
          <a:p>
            <a:pPr marL="0" indent="0" algn="r">
              <a:buNone/>
            </a:pPr>
            <a:r>
              <a:rPr lang="en-US" sz="950" dirty="0">
                <a:solidFill>
                  <a:srgbClr val="5C6675"/>
                </a:solidFill>
                <a:latin typeface="Calibri" pitchFamily="34" charset="0"/>
                <a:ea typeface="Calibri" pitchFamily="34" charset="-122"/>
                <a:cs typeface="Calibri" pitchFamily="34" charset="-120"/>
              </a:rPr>
              <a:t>22.50%</a:t>
            </a:r>
            <a:endParaRPr lang="en-US" sz="950" dirty="0"/>
          </a:p>
        </p:txBody>
      </p:sp>
      <p:sp>
        <p:nvSpPr>
          <p:cNvPr id="18" name="Shape 15"/>
          <p:cNvSpPr/>
          <p:nvPr/>
        </p:nvSpPr>
        <p:spPr>
          <a:xfrm>
            <a:off x="5285232" y="3511296"/>
            <a:ext cx="3355848" cy="566928"/>
          </a:xfrm>
          <a:prstGeom prst="rect">
            <a:avLst/>
          </a:prstGeom>
          <a:solidFill>
            <a:srgbClr val="FFFFFF"/>
          </a:solidFill>
          <a:ln w="12700">
            <a:solidFill>
              <a:srgbClr val="E2EDEB"/>
            </a:solidFill>
            <a:prstDash val="solid"/>
          </a:ln>
        </p:spPr>
        <p:txBody>
          <a:bodyPr/>
          <a:lstStyle/>
          <a:p>
            <a:endParaRPr lang="en-US"/>
          </a:p>
        </p:txBody>
      </p:sp>
      <p:sp>
        <p:nvSpPr>
          <p:cNvPr id="19" name="Text 16"/>
          <p:cNvSpPr/>
          <p:nvPr/>
        </p:nvSpPr>
        <p:spPr>
          <a:xfrm>
            <a:off x="5449824" y="3566160"/>
            <a:ext cx="1828800" cy="457200"/>
          </a:xfrm>
          <a:prstGeom prst="rect">
            <a:avLst/>
          </a:prstGeom>
          <a:noFill/>
          <a:ln/>
        </p:spPr>
        <p:txBody>
          <a:bodyPr wrap="square" lIns="0" tIns="0" rIns="0" bIns="0" rtlCol="0" anchor="ctr"/>
          <a:lstStyle/>
          <a:p>
            <a:pPr marL="0" indent="0">
              <a:buNone/>
            </a:pPr>
            <a:r>
              <a:rPr lang="en-US" sz="1300" b="1" dirty="0">
                <a:solidFill>
                  <a:srgbClr val="1E2531"/>
                </a:solidFill>
                <a:latin typeface="Trebuchet MS" pitchFamily="34" charset="0"/>
                <a:ea typeface="Trebuchet MS" pitchFamily="34" charset="-122"/>
                <a:cs typeface="Trebuchet MS" pitchFamily="34" charset="-120"/>
              </a:rPr>
              <a:t>Maine</a:t>
            </a:r>
            <a:endParaRPr lang="en-US" sz="1300" dirty="0"/>
          </a:p>
        </p:txBody>
      </p:sp>
      <p:sp>
        <p:nvSpPr>
          <p:cNvPr id="20" name="Text 17"/>
          <p:cNvSpPr/>
          <p:nvPr/>
        </p:nvSpPr>
        <p:spPr>
          <a:xfrm>
            <a:off x="7223760" y="3557016"/>
            <a:ext cx="868680" cy="274320"/>
          </a:xfrm>
          <a:prstGeom prst="rect">
            <a:avLst/>
          </a:prstGeom>
          <a:noFill/>
          <a:ln/>
        </p:spPr>
        <p:txBody>
          <a:bodyPr wrap="square" lIns="0" tIns="0" rIns="0" bIns="0" rtlCol="0" anchor="ctr"/>
          <a:lstStyle/>
          <a:p>
            <a:pPr marL="0" indent="0" algn="r">
              <a:buNone/>
            </a:pPr>
            <a:r>
              <a:rPr lang="en-US" sz="1350" b="1" dirty="0">
                <a:solidFill>
                  <a:srgbClr val="0A6B65"/>
                </a:solidFill>
                <a:latin typeface="Trebuchet MS" pitchFamily="34" charset="0"/>
                <a:ea typeface="Trebuchet MS" pitchFamily="34" charset="-122"/>
                <a:cs typeface="Trebuchet MS" pitchFamily="34" charset="-120"/>
              </a:rPr>
              <a:t>$2.76M</a:t>
            </a:r>
            <a:endParaRPr lang="en-US" sz="1350" dirty="0"/>
          </a:p>
        </p:txBody>
      </p:sp>
      <p:sp>
        <p:nvSpPr>
          <p:cNvPr id="21" name="Text 18"/>
          <p:cNvSpPr/>
          <p:nvPr/>
        </p:nvSpPr>
        <p:spPr>
          <a:xfrm>
            <a:off x="7223760" y="3813048"/>
            <a:ext cx="868680" cy="219456"/>
          </a:xfrm>
          <a:prstGeom prst="rect">
            <a:avLst/>
          </a:prstGeom>
          <a:noFill/>
          <a:ln/>
        </p:spPr>
        <p:txBody>
          <a:bodyPr wrap="square" lIns="0" tIns="0" rIns="0" bIns="0" rtlCol="0" anchor="ctr"/>
          <a:lstStyle/>
          <a:p>
            <a:pPr marL="0" indent="0" algn="r">
              <a:buNone/>
            </a:pPr>
            <a:r>
              <a:rPr lang="en-US" sz="950" dirty="0">
                <a:solidFill>
                  <a:srgbClr val="5C6675"/>
                </a:solidFill>
                <a:latin typeface="Calibri" pitchFamily="34" charset="0"/>
                <a:ea typeface="Calibri" pitchFamily="34" charset="-122"/>
                <a:cs typeface="Calibri" pitchFamily="34" charset="-120"/>
              </a:rPr>
              <a:t>8.38%</a:t>
            </a:r>
            <a:endParaRPr lang="en-US" sz="950" dirty="0"/>
          </a:p>
        </p:txBody>
      </p:sp>
      <p:sp>
        <p:nvSpPr>
          <p:cNvPr id="22" name="Shape 19"/>
          <p:cNvSpPr/>
          <p:nvPr/>
        </p:nvSpPr>
        <p:spPr>
          <a:xfrm>
            <a:off x="5285232" y="4187952"/>
            <a:ext cx="3355848" cy="566928"/>
          </a:xfrm>
          <a:prstGeom prst="rect">
            <a:avLst/>
          </a:prstGeom>
          <a:solidFill>
            <a:srgbClr val="E8F3F1"/>
          </a:solidFill>
          <a:ln/>
        </p:spPr>
        <p:txBody>
          <a:bodyPr/>
          <a:lstStyle/>
          <a:p>
            <a:endParaRPr lang="en-US"/>
          </a:p>
        </p:txBody>
      </p:sp>
      <p:sp>
        <p:nvSpPr>
          <p:cNvPr id="23" name="Text 20"/>
          <p:cNvSpPr/>
          <p:nvPr/>
        </p:nvSpPr>
        <p:spPr>
          <a:xfrm>
            <a:off x="5449824" y="4224528"/>
            <a:ext cx="3026664" cy="493776"/>
          </a:xfrm>
          <a:prstGeom prst="rect">
            <a:avLst/>
          </a:prstGeom>
          <a:noFill/>
          <a:ln/>
        </p:spPr>
        <p:txBody>
          <a:bodyPr wrap="square" lIns="0" tIns="0" rIns="0" bIns="0" rtlCol="0" anchor="ctr"/>
          <a:lstStyle/>
          <a:p>
            <a:pPr marL="0" indent="0">
              <a:buNone/>
            </a:pPr>
            <a:r>
              <a:rPr lang="en-US" sz="1000" i="1" dirty="0">
                <a:solidFill>
                  <a:srgbClr val="0A6B65"/>
                </a:solidFill>
                <a:latin typeface="Calibri" pitchFamily="34" charset="0"/>
                <a:ea typeface="Calibri" pitchFamily="34" charset="-122"/>
                <a:cs typeface="Calibri" pitchFamily="34" charset="-120"/>
              </a:rPr>
              <a:t>Maryland and Massachusetts set the benchmark — their playbooks can lift New Jersey and Maine.</a:t>
            </a:r>
            <a:endParaRPr lang="en-US" sz="1000" dirty="0"/>
          </a:p>
        </p:txBody>
      </p:sp>
      <p:sp>
        <p:nvSpPr>
          <p:cNvPr id="24" name="Text 21"/>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25" name="Text 22"/>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6"/>
        </a:solidFill>
        <a:effectLst/>
      </p:bgPr>
    </p:bg>
    <p:spTree>
      <p:nvGrpSpPr>
        <p:cNvPr id="1" name=""/>
        <p:cNvGrpSpPr/>
        <p:nvPr/>
      </p:nvGrpSpPr>
      <p:grpSpPr>
        <a:xfrm>
          <a:off x="0" y="0"/>
          <a:ext cx="0" cy="0"/>
          <a:chOff x="0" y="0"/>
          <a:chExt cx="0" cy="0"/>
        </a:xfrm>
      </p:grpSpPr>
      <p:pic>
        <p:nvPicPr>
          <p:cNvPr id="2" name="Image 0" descr="/agent/turn1/workspace/images/image-bbe40c99ab49c84a45a290f97e73606a.jpg"/>
          <p:cNvPicPr>
            <a:picLocks noChangeAspect="1"/>
          </p:cNvPicPr>
          <p:nvPr/>
        </p:nvPicPr>
        <p:blipFill>
          <a:blip r:embed="rId3"/>
          <a:srcRect l="6000" r="6000"/>
          <a:stretch/>
        </p:blipFill>
        <p:spPr>
          <a:xfrm>
            <a:off x="6126480" y="0"/>
            <a:ext cx="3017520" cy="5143500"/>
          </a:xfrm>
          <a:prstGeom prst="rect">
            <a:avLst/>
          </a:prstGeom>
        </p:spPr>
      </p:pic>
      <p:sp>
        <p:nvSpPr>
          <p:cNvPr id="3" name="Shape 0"/>
          <p:cNvSpPr/>
          <p:nvPr/>
        </p:nvSpPr>
        <p:spPr>
          <a:xfrm>
            <a:off x="6126480" y="0"/>
            <a:ext cx="54864" cy="5143500"/>
          </a:xfrm>
          <a:prstGeom prst="rect">
            <a:avLst/>
          </a:prstGeom>
          <a:solidFill>
            <a:srgbClr val="0E8E86"/>
          </a:solidFill>
          <a:ln/>
        </p:spPr>
        <p:txBody>
          <a:bodyPr/>
          <a:lstStyle/>
          <a:p>
            <a:endParaRPr lang="en-US"/>
          </a:p>
        </p:txBody>
      </p:sp>
      <p:sp>
        <p:nvSpPr>
          <p:cNvPr id="4" name="Text 1"/>
          <p:cNvSpPr/>
          <p:nvPr/>
        </p:nvSpPr>
        <p:spPr>
          <a:xfrm>
            <a:off x="502920" y="384048"/>
            <a:ext cx="548640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CATEGORY PERFORMANCE</a:t>
            </a:r>
            <a:endParaRPr lang="en-US" sz="1250" dirty="0"/>
          </a:p>
        </p:txBody>
      </p:sp>
      <p:sp>
        <p:nvSpPr>
          <p:cNvPr id="5" name="Text 2"/>
          <p:cNvSpPr/>
          <p:nvPr/>
        </p:nvSpPr>
        <p:spPr>
          <a:xfrm>
            <a:off x="502920" y="676656"/>
            <a:ext cx="5486400" cy="868680"/>
          </a:xfrm>
          <a:prstGeom prst="rect">
            <a:avLst/>
          </a:prstGeom>
          <a:noFill/>
          <a:ln/>
        </p:spPr>
        <p:txBody>
          <a:bodyPr wrap="square" lIns="0" tIns="0" rIns="0" bIns="0" rtlCol="0" anchor="t"/>
          <a:lstStyle/>
          <a:p>
            <a:pPr marL="0" indent="0" algn="l">
              <a:buNone/>
            </a:pPr>
            <a:r>
              <a:rPr lang="en-US" sz="2300" b="1" dirty="0">
                <a:solidFill>
                  <a:srgbClr val="1E2531"/>
                </a:solidFill>
                <a:latin typeface="Trebuchet MS" pitchFamily="34" charset="0"/>
                <a:ea typeface="Trebuchet MS" pitchFamily="34" charset="-122"/>
                <a:cs typeface="Trebuchet MS" pitchFamily="34" charset="-120"/>
              </a:rPr>
              <a:t>Technology &amp; Accessories leads every category</a:t>
            </a:r>
            <a:endParaRPr lang="en-US" sz="2300" dirty="0"/>
          </a:p>
        </p:txBody>
      </p:sp>
      <p:sp>
        <p:nvSpPr>
          <p:cNvPr id="6" name="Shape 3"/>
          <p:cNvSpPr/>
          <p:nvPr/>
        </p:nvSpPr>
        <p:spPr>
          <a:xfrm>
            <a:off x="502920" y="1783080"/>
            <a:ext cx="5349240" cy="1298448"/>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7" name="Shape 4"/>
          <p:cNvSpPr/>
          <p:nvPr/>
        </p:nvSpPr>
        <p:spPr>
          <a:xfrm>
            <a:off x="502920" y="1783080"/>
            <a:ext cx="73152" cy="1298448"/>
          </a:xfrm>
          <a:prstGeom prst="rect">
            <a:avLst/>
          </a:prstGeom>
          <a:solidFill>
            <a:srgbClr val="8ED0CB"/>
          </a:solidFill>
          <a:ln/>
        </p:spPr>
        <p:txBody>
          <a:bodyPr/>
          <a:lstStyle/>
          <a:p>
            <a:endParaRPr lang="en-US"/>
          </a:p>
        </p:txBody>
      </p:sp>
      <p:sp>
        <p:nvSpPr>
          <p:cNvPr id="8" name="Text 5"/>
          <p:cNvSpPr/>
          <p:nvPr/>
        </p:nvSpPr>
        <p:spPr>
          <a:xfrm>
            <a:off x="731520" y="1929384"/>
            <a:ext cx="4937760" cy="365760"/>
          </a:xfrm>
          <a:prstGeom prst="rect">
            <a:avLst/>
          </a:prstGeom>
          <a:noFill/>
          <a:ln/>
        </p:spPr>
        <p:txBody>
          <a:bodyPr wrap="square" lIns="0" tIns="0" rIns="0" bIns="0" rtlCol="0" anchor="ctr"/>
          <a:lstStyle/>
          <a:p>
            <a:pPr marL="0" indent="0">
              <a:buNone/>
            </a:pPr>
            <a:r>
              <a:rPr lang="en-US" sz="1600" b="1" dirty="0">
                <a:solidFill>
                  <a:srgbClr val="0A6B65"/>
                </a:solidFill>
                <a:latin typeface="Trebuchet MS" pitchFamily="34" charset="0"/>
                <a:ea typeface="Trebuchet MS" pitchFamily="34" charset="-122"/>
                <a:cs typeface="Trebuchet MS" pitchFamily="34" charset="-120"/>
              </a:rPr>
              <a:t>Clear category leader</a:t>
            </a:r>
            <a:endParaRPr lang="en-US" sz="1600" dirty="0"/>
          </a:p>
        </p:txBody>
      </p:sp>
      <p:sp>
        <p:nvSpPr>
          <p:cNvPr id="9" name="Text 6"/>
          <p:cNvSpPr/>
          <p:nvPr/>
        </p:nvSpPr>
        <p:spPr>
          <a:xfrm>
            <a:off x="731520" y="2313432"/>
            <a:ext cx="4983480" cy="713232"/>
          </a:xfrm>
          <a:prstGeom prst="rect">
            <a:avLst/>
          </a:prstGeom>
          <a:noFill/>
          <a:ln/>
        </p:spPr>
        <p:txBody>
          <a:bodyPr wrap="square" lIns="0" tIns="0" rIns="0" bIns="0" rtlCol="0" anchor="ctr"/>
          <a:lstStyle/>
          <a:p>
            <a:pPr marL="0" indent="0">
              <a:lnSpc>
                <a:spcPct val="105000"/>
              </a:lnSpc>
              <a:buNone/>
            </a:pPr>
            <a:r>
              <a:rPr lang="en-US" sz="1250" dirty="0">
                <a:solidFill>
                  <a:srgbClr val="5C6675"/>
                </a:solidFill>
                <a:latin typeface="Calibri" pitchFamily="34" charset="0"/>
                <a:ea typeface="Calibri" pitchFamily="34" charset="-122"/>
                <a:cs typeface="Calibri" pitchFamily="34" charset="-120"/>
              </a:rPr>
              <a:t>Technology &amp; Accessories generates the largest share of category revenue, outpacing every other product group in the region.</a:t>
            </a:r>
            <a:endParaRPr lang="en-US" sz="1250" dirty="0"/>
          </a:p>
        </p:txBody>
      </p:sp>
      <p:sp>
        <p:nvSpPr>
          <p:cNvPr id="10" name="Shape 7"/>
          <p:cNvSpPr/>
          <p:nvPr/>
        </p:nvSpPr>
        <p:spPr>
          <a:xfrm>
            <a:off x="502920" y="3246120"/>
            <a:ext cx="5349240" cy="1298448"/>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1" name="Shape 8"/>
          <p:cNvSpPr/>
          <p:nvPr/>
        </p:nvSpPr>
        <p:spPr>
          <a:xfrm>
            <a:off x="502920" y="3246120"/>
            <a:ext cx="73152" cy="1298448"/>
          </a:xfrm>
          <a:prstGeom prst="rect">
            <a:avLst/>
          </a:prstGeom>
          <a:solidFill>
            <a:srgbClr val="8ED0CB"/>
          </a:solidFill>
          <a:ln/>
        </p:spPr>
        <p:txBody>
          <a:bodyPr/>
          <a:lstStyle/>
          <a:p>
            <a:endParaRPr lang="en-US"/>
          </a:p>
        </p:txBody>
      </p:sp>
      <p:sp>
        <p:nvSpPr>
          <p:cNvPr id="12" name="Text 9"/>
          <p:cNvSpPr/>
          <p:nvPr/>
        </p:nvSpPr>
        <p:spPr>
          <a:xfrm>
            <a:off x="731520" y="3392424"/>
            <a:ext cx="4937760" cy="365760"/>
          </a:xfrm>
          <a:prstGeom prst="rect">
            <a:avLst/>
          </a:prstGeom>
          <a:noFill/>
          <a:ln/>
        </p:spPr>
        <p:txBody>
          <a:bodyPr wrap="square" lIns="0" tIns="0" rIns="0" bIns="0" rtlCol="0" anchor="ctr"/>
          <a:lstStyle/>
          <a:p>
            <a:pPr marL="0" indent="0">
              <a:buNone/>
            </a:pPr>
            <a:r>
              <a:rPr lang="en-US" sz="1600" b="1" dirty="0">
                <a:solidFill>
                  <a:srgbClr val="0A6B65"/>
                </a:solidFill>
                <a:latin typeface="Trebuchet MS" pitchFamily="34" charset="0"/>
                <a:ea typeface="Trebuchet MS" pitchFamily="34" charset="-122"/>
                <a:cs typeface="Trebuchet MS" pitchFamily="34" charset="-120"/>
              </a:rPr>
              <a:t>Decision impact</a:t>
            </a:r>
            <a:endParaRPr lang="en-US" sz="1600" dirty="0"/>
          </a:p>
        </p:txBody>
      </p:sp>
      <p:sp>
        <p:nvSpPr>
          <p:cNvPr id="13" name="Text 10"/>
          <p:cNvSpPr/>
          <p:nvPr/>
        </p:nvSpPr>
        <p:spPr>
          <a:xfrm>
            <a:off x="731520" y="3776472"/>
            <a:ext cx="4983480" cy="713232"/>
          </a:xfrm>
          <a:prstGeom prst="rect">
            <a:avLst/>
          </a:prstGeom>
          <a:noFill/>
          <a:ln/>
        </p:spPr>
        <p:txBody>
          <a:bodyPr wrap="square" lIns="0" tIns="0" rIns="0" bIns="0" rtlCol="0" anchor="ctr"/>
          <a:lstStyle/>
          <a:p>
            <a:pPr marL="0" indent="0">
              <a:lnSpc>
                <a:spcPct val="105000"/>
              </a:lnSpc>
              <a:buNone/>
            </a:pPr>
            <a:r>
              <a:rPr lang="en-US" sz="1250" dirty="0">
                <a:solidFill>
                  <a:srgbClr val="5C6675"/>
                </a:solidFill>
                <a:latin typeface="Calibri" pitchFamily="34" charset="0"/>
                <a:ea typeface="Calibri" pitchFamily="34" charset="-122"/>
                <a:cs typeface="Calibri" pitchFamily="34" charset="-120"/>
              </a:rPr>
              <a:t>Concentrate promotions, product availability, and inventory on the strongest categories — and review lower performers for assortment, pricing, or marketing changes.</a:t>
            </a:r>
            <a:endParaRPr lang="en-US" sz="1250" dirty="0"/>
          </a:p>
        </p:txBody>
      </p:sp>
      <p:sp>
        <p:nvSpPr>
          <p:cNvPr id="14" name="Text 11"/>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15" name="Text 12"/>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6"/>
        </a:solidFill>
        <a:effectLst/>
      </p:bgPr>
    </p:bg>
    <p:spTree>
      <p:nvGrpSpPr>
        <p:cNvPr id="1" name=""/>
        <p:cNvGrpSpPr/>
        <p:nvPr/>
      </p:nvGrpSpPr>
      <p:grpSpPr>
        <a:xfrm>
          <a:off x="0" y="0"/>
          <a:ext cx="0" cy="0"/>
          <a:chOff x="0" y="0"/>
          <a:chExt cx="0" cy="0"/>
        </a:xfrm>
      </p:grpSpPr>
      <p:pic>
        <p:nvPicPr>
          <p:cNvPr id="2" name="Image 0" descr="/agent/turn1/workspace/images/image-08c86e3e10648e0bc4b7c94373f72fa2.jpg"/>
          <p:cNvPicPr>
            <a:picLocks noChangeAspect="1"/>
          </p:cNvPicPr>
          <p:nvPr/>
        </p:nvPicPr>
        <p:blipFill>
          <a:blip r:embed="rId3"/>
          <a:srcRect l="6000" r="6000"/>
          <a:stretch/>
        </p:blipFill>
        <p:spPr>
          <a:xfrm>
            <a:off x="0" y="0"/>
            <a:ext cx="3017520" cy="5143500"/>
          </a:xfrm>
          <a:prstGeom prst="rect">
            <a:avLst/>
          </a:prstGeom>
        </p:spPr>
      </p:pic>
      <p:sp>
        <p:nvSpPr>
          <p:cNvPr id="3" name="Shape 0"/>
          <p:cNvSpPr/>
          <p:nvPr/>
        </p:nvSpPr>
        <p:spPr>
          <a:xfrm>
            <a:off x="2962656" y="0"/>
            <a:ext cx="54864" cy="5143500"/>
          </a:xfrm>
          <a:prstGeom prst="rect">
            <a:avLst/>
          </a:prstGeom>
          <a:solidFill>
            <a:srgbClr val="0E8E86"/>
          </a:solidFill>
          <a:ln/>
        </p:spPr>
        <p:txBody>
          <a:bodyPr/>
          <a:lstStyle/>
          <a:p>
            <a:endParaRPr lang="en-US"/>
          </a:p>
        </p:txBody>
      </p:sp>
      <p:sp>
        <p:nvSpPr>
          <p:cNvPr id="4" name="Text 1"/>
          <p:cNvSpPr/>
          <p:nvPr/>
        </p:nvSpPr>
        <p:spPr>
          <a:xfrm>
            <a:off x="3291840" y="384048"/>
            <a:ext cx="539496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TOP-SELLING BOOKS</a:t>
            </a:r>
            <a:endParaRPr lang="en-US" sz="1250" dirty="0"/>
          </a:p>
        </p:txBody>
      </p:sp>
      <p:sp>
        <p:nvSpPr>
          <p:cNvPr id="5" name="Text 2"/>
          <p:cNvSpPr/>
          <p:nvPr/>
        </p:nvSpPr>
        <p:spPr>
          <a:xfrm>
            <a:off x="3291840" y="676656"/>
            <a:ext cx="5394960" cy="640080"/>
          </a:xfrm>
          <a:prstGeom prst="rect">
            <a:avLst/>
          </a:prstGeom>
          <a:noFill/>
          <a:ln/>
        </p:spPr>
        <p:txBody>
          <a:bodyPr wrap="square" lIns="0" tIns="0" rIns="0" bIns="0" rtlCol="0" anchor="t"/>
          <a:lstStyle/>
          <a:p>
            <a:pPr marL="0" indent="0" algn="l">
              <a:buNone/>
            </a:pPr>
            <a:r>
              <a:rPr lang="en-US" sz="2300" b="1" dirty="0">
                <a:solidFill>
                  <a:srgbClr val="1E2531"/>
                </a:solidFill>
                <a:latin typeface="Trebuchet MS" pitchFamily="34" charset="0"/>
                <a:ea typeface="Trebuchet MS" pitchFamily="34" charset="-122"/>
                <a:cs typeface="Trebuchet MS" pitchFamily="34" charset="-120"/>
              </a:rPr>
              <a:t>Best-selling general audience titles</a:t>
            </a:r>
            <a:endParaRPr lang="en-US" sz="2300" dirty="0"/>
          </a:p>
        </p:txBody>
      </p:sp>
      <p:sp>
        <p:nvSpPr>
          <p:cNvPr id="6" name="Shape 3"/>
          <p:cNvSpPr/>
          <p:nvPr/>
        </p:nvSpPr>
        <p:spPr>
          <a:xfrm>
            <a:off x="3291840" y="1627632"/>
            <a:ext cx="5349240" cy="89611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7" name="Shape 4"/>
          <p:cNvSpPr/>
          <p:nvPr/>
        </p:nvSpPr>
        <p:spPr>
          <a:xfrm>
            <a:off x="3474720" y="1865376"/>
            <a:ext cx="420624" cy="420624"/>
          </a:xfrm>
          <a:prstGeom prst="ellipse">
            <a:avLst/>
          </a:prstGeom>
          <a:solidFill>
            <a:srgbClr val="0E8E86"/>
          </a:solidFill>
          <a:ln/>
        </p:spPr>
        <p:txBody>
          <a:bodyPr/>
          <a:lstStyle/>
          <a:p>
            <a:endParaRPr lang="en-US"/>
          </a:p>
        </p:txBody>
      </p:sp>
      <p:sp>
        <p:nvSpPr>
          <p:cNvPr id="8" name="Text 5"/>
          <p:cNvSpPr/>
          <p:nvPr/>
        </p:nvSpPr>
        <p:spPr>
          <a:xfrm>
            <a:off x="3474720" y="1865376"/>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9" name="Text 6"/>
          <p:cNvSpPr/>
          <p:nvPr/>
        </p:nvSpPr>
        <p:spPr>
          <a:xfrm>
            <a:off x="4069080" y="1773936"/>
            <a:ext cx="3246120" cy="384048"/>
          </a:xfrm>
          <a:prstGeom prst="rect">
            <a:avLst/>
          </a:prstGeom>
          <a:noFill/>
          <a:ln/>
        </p:spPr>
        <p:txBody>
          <a:bodyPr wrap="square" lIns="0" tIns="0" rIns="0" bIns="0" rtlCol="0" anchor="ctr"/>
          <a:lstStyle/>
          <a:p>
            <a:pPr marL="0" indent="0">
              <a:buNone/>
            </a:pPr>
            <a:r>
              <a:rPr lang="en-US" sz="1400" b="1" dirty="0">
                <a:solidFill>
                  <a:srgbClr val="1E2531"/>
                </a:solidFill>
                <a:latin typeface="Trebuchet MS" pitchFamily="34" charset="0"/>
                <a:ea typeface="Trebuchet MS" pitchFamily="34" charset="-122"/>
                <a:cs typeface="Trebuchet MS" pitchFamily="34" charset="-120"/>
              </a:rPr>
              <a:t>Harry Potter and the Sorcerer's Stone</a:t>
            </a:r>
            <a:endParaRPr lang="en-US" sz="1400" dirty="0"/>
          </a:p>
        </p:txBody>
      </p:sp>
      <p:sp>
        <p:nvSpPr>
          <p:cNvPr id="10" name="Text 7"/>
          <p:cNvSpPr/>
          <p:nvPr/>
        </p:nvSpPr>
        <p:spPr>
          <a:xfrm>
            <a:off x="4069080" y="2139696"/>
            <a:ext cx="3246120" cy="274320"/>
          </a:xfrm>
          <a:prstGeom prst="rect">
            <a:avLst/>
          </a:prstGeom>
          <a:noFill/>
          <a:ln/>
        </p:spPr>
        <p:txBody>
          <a:bodyPr wrap="square" lIns="0" tIns="0" rIns="0" bIns="0" rtlCol="0" anchor="ctr"/>
          <a:lstStyle/>
          <a:p>
            <a:pPr marL="0" indent="0">
              <a:buNone/>
            </a:pPr>
            <a:r>
              <a:rPr lang="en-US" sz="1100" i="1" dirty="0">
                <a:solidFill>
                  <a:srgbClr val="5C6675"/>
                </a:solidFill>
                <a:latin typeface="Calibri" pitchFamily="34" charset="0"/>
                <a:ea typeface="Calibri" pitchFamily="34" charset="-122"/>
                <a:cs typeface="Calibri" pitchFamily="34" charset="-120"/>
              </a:rPr>
              <a:t>by J.K. Rowling</a:t>
            </a:r>
            <a:endParaRPr lang="en-US" sz="1100" dirty="0"/>
          </a:p>
        </p:txBody>
      </p:sp>
      <p:sp>
        <p:nvSpPr>
          <p:cNvPr id="11" name="Text 8"/>
          <p:cNvSpPr/>
          <p:nvPr/>
        </p:nvSpPr>
        <p:spPr>
          <a:xfrm>
            <a:off x="7498080" y="1865376"/>
            <a:ext cx="1005840" cy="420624"/>
          </a:xfrm>
          <a:prstGeom prst="rect">
            <a:avLst/>
          </a:prstGeom>
          <a:noFill/>
          <a:ln/>
        </p:spPr>
        <p:txBody>
          <a:bodyPr wrap="square" lIns="0" tIns="0" rIns="0" bIns="0" rtlCol="0" anchor="ctr"/>
          <a:lstStyle/>
          <a:p>
            <a:pPr marL="0" indent="0" algn="r">
              <a:buNone/>
            </a:pPr>
            <a:r>
              <a:rPr lang="en-US" sz="1700" b="1" dirty="0">
                <a:solidFill>
                  <a:srgbClr val="0A6B65"/>
                </a:solidFill>
                <a:latin typeface="Trebuchet MS" pitchFamily="34" charset="0"/>
                <a:ea typeface="Trebuchet MS" pitchFamily="34" charset="-122"/>
                <a:cs typeface="Trebuchet MS" pitchFamily="34" charset="-120"/>
              </a:rPr>
              <a:t>$16.43K</a:t>
            </a:r>
            <a:endParaRPr lang="en-US" sz="1700" dirty="0"/>
          </a:p>
        </p:txBody>
      </p:sp>
      <p:sp>
        <p:nvSpPr>
          <p:cNvPr id="12" name="Shape 9"/>
          <p:cNvSpPr/>
          <p:nvPr/>
        </p:nvSpPr>
        <p:spPr>
          <a:xfrm>
            <a:off x="3291840" y="2670048"/>
            <a:ext cx="5349240" cy="89611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3" name="Shape 10"/>
          <p:cNvSpPr/>
          <p:nvPr/>
        </p:nvSpPr>
        <p:spPr>
          <a:xfrm>
            <a:off x="3474720" y="2907792"/>
            <a:ext cx="420624" cy="420624"/>
          </a:xfrm>
          <a:prstGeom prst="ellipse">
            <a:avLst/>
          </a:prstGeom>
          <a:solidFill>
            <a:srgbClr val="0E8E86"/>
          </a:solidFill>
          <a:ln/>
        </p:spPr>
        <p:txBody>
          <a:bodyPr/>
          <a:lstStyle/>
          <a:p>
            <a:endParaRPr lang="en-US"/>
          </a:p>
        </p:txBody>
      </p:sp>
      <p:sp>
        <p:nvSpPr>
          <p:cNvPr id="14" name="Text 11"/>
          <p:cNvSpPr/>
          <p:nvPr/>
        </p:nvSpPr>
        <p:spPr>
          <a:xfrm>
            <a:off x="3474720" y="2907792"/>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5" name="Text 12"/>
          <p:cNvSpPr/>
          <p:nvPr/>
        </p:nvSpPr>
        <p:spPr>
          <a:xfrm>
            <a:off x="4069080" y="2816352"/>
            <a:ext cx="3246120" cy="384048"/>
          </a:xfrm>
          <a:prstGeom prst="rect">
            <a:avLst/>
          </a:prstGeom>
          <a:noFill/>
          <a:ln/>
        </p:spPr>
        <p:txBody>
          <a:bodyPr wrap="square" lIns="0" tIns="0" rIns="0" bIns="0" rtlCol="0" anchor="ctr"/>
          <a:lstStyle/>
          <a:p>
            <a:pPr marL="0" indent="0">
              <a:buNone/>
            </a:pPr>
            <a:r>
              <a:rPr lang="en-US" sz="1400" b="1" dirty="0">
                <a:solidFill>
                  <a:srgbClr val="1E2531"/>
                </a:solidFill>
                <a:latin typeface="Trebuchet MS" pitchFamily="34" charset="0"/>
                <a:ea typeface="Trebuchet MS" pitchFamily="34" charset="-122"/>
                <a:cs typeface="Trebuchet MS" pitchFamily="34" charset="-120"/>
              </a:rPr>
              <a:t>The Tipping Point</a:t>
            </a:r>
            <a:endParaRPr lang="en-US" sz="1400" dirty="0"/>
          </a:p>
        </p:txBody>
      </p:sp>
      <p:sp>
        <p:nvSpPr>
          <p:cNvPr id="16" name="Text 13"/>
          <p:cNvSpPr/>
          <p:nvPr/>
        </p:nvSpPr>
        <p:spPr>
          <a:xfrm>
            <a:off x="4069080" y="3182112"/>
            <a:ext cx="3246120" cy="274320"/>
          </a:xfrm>
          <a:prstGeom prst="rect">
            <a:avLst/>
          </a:prstGeom>
          <a:noFill/>
          <a:ln/>
        </p:spPr>
        <p:txBody>
          <a:bodyPr wrap="square" lIns="0" tIns="0" rIns="0" bIns="0" rtlCol="0" anchor="ctr"/>
          <a:lstStyle/>
          <a:p>
            <a:pPr marL="0" indent="0">
              <a:buNone/>
            </a:pPr>
            <a:r>
              <a:rPr lang="en-US" sz="1100" i="1" dirty="0">
                <a:solidFill>
                  <a:srgbClr val="5C6675"/>
                </a:solidFill>
                <a:latin typeface="Calibri" pitchFamily="34" charset="0"/>
                <a:ea typeface="Calibri" pitchFamily="34" charset="-122"/>
                <a:cs typeface="Calibri" pitchFamily="34" charset="-120"/>
              </a:rPr>
              <a:t>by Malcolm Gladwell</a:t>
            </a:r>
            <a:endParaRPr lang="en-US" sz="1100" dirty="0"/>
          </a:p>
        </p:txBody>
      </p:sp>
      <p:sp>
        <p:nvSpPr>
          <p:cNvPr id="17" name="Text 14"/>
          <p:cNvSpPr/>
          <p:nvPr/>
        </p:nvSpPr>
        <p:spPr>
          <a:xfrm>
            <a:off x="7498080" y="2907792"/>
            <a:ext cx="1005840" cy="420624"/>
          </a:xfrm>
          <a:prstGeom prst="rect">
            <a:avLst/>
          </a:prstGeom>
          <a:noFill/>
          <a:ln/>
        </p:spPr>
        <p:txBody>
          <a:bodyPr wrap="square" lIns="0" tIns="0" rIns="0" bIns="0" rtlCol="0" anchor="ctr"/>
          <a:lstStyle/>
          <a:p>
            <a:pPr marL="0" indent="0" algn="r">
              <a:buNone/>
            </a:pPr>
            <a:r>
              <a:rPr lang="en-US" sz="1700" b="1" dirty="0">
                <a:solidFill>
                  <a:srgbClr val="0A6B65"/>
                </a:solidFill>
                <a:latin typeface="Trebuchet MS" pitchFamily="34" charset="0"/>
                <a:ea typeface="Trebuchet MS" pitchFamily="34" charset="-122"/>
                <a:cs typeface="Trebuchet MS" pitchFamily="34" charset="-120"/>
              </a:rPr>
              <a:t>$12.96K</a:t>
            </a:r>
            <a:endParaRPr lang="en-US" sz="1700" dirty="0"/>
          </a:p>
        </p:txBody>
      </p:sp>
      <p:sp>
        <p:nvSpPr>
          <p:cNvPr id="18" name="Shape 15"/>
          <p:cNvSpPr/>
          <p:nvPr/>
        </p:nvSpPr>
        <p:spPr>
          <a:xfrm>
            <a:off x="3291840" y="3712464"/>
            <a:ext cx="5349240" cy="896112"/>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9" name="Shape 16"/>
          <p:cNvSpPr/>
          <p:nvPr/>
        </p:nvSpPr>
        <p:spPr>
          <a:xfrm>
            <a:off x="3474720" y="3950208"/>
            <a:ext cx="420624" cy="420624"/>
          </a:xfrm>
          <a:prstGeom prst="ellipse">
            <a:avLst/>
          </a:prstGeom>
          <a:solidFill>
            <a:srgbClr val="0E8E86"/>
          </a:solidFill>
          <a:ln/>
        </p:spPr>
        <p:txBody>
          <a:bodyPr/>
          <a:lstStyle/>
          <a:p>
            <a:endParaRPr lang="en-US"/>
          </a:p>
        </p:txBody>
      </p:sp>
      <p:sp>
        <p:nvSpPr>
          <p:cNvPr id="20" name="Text 17"/>
          <p:cNvSpPr/>
          <p:nvPr/>
        </p:nvSpPr>
        <p:spPr>
          <a:xfrm>
            <a:off x="3474720" y="395020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21" name="Text 18"/>
          <p:cNvSpPr/>
          <p:nvPr/>
        </p:nvSpPr>
        <p:spPr>
          <a:xfrm>
            <a:off x="4069080" y="3858768"/>
            <a:ext cx="3246120" cy="384048"/>
          </a:xfrm>
          <a:prstGeom prst="rect">
            <a:avLst/>
          </a:prstGeom>
          <a:noFill/>
          <a:ln/>
        </p:spPr>
        <p:txBody>
          <a:bodyPr wrap="square" lIns="0" tIns="0" rIns="0" bIns="0" rtlCol="0" anchor="ctr"/>
          <a:lstStyle/>
          <a:p>
            <a:pPr marL="0" indent="0">
              <a:buNone/>
            </a:pPr>
            <a:r>
              <a:rPr lang="en-US" sz="1400" b="1" dirty="0">
                <a:solidFill>
                  <a:srgbClr val="1E2531"/>
                </a:solidFill>
                <a:latin typeface="Trebuchet MS" pitchFamily="34" charset="0"/>
                <a:ea typeface="Trebuchet MS" pitchFamily="34" charset="-122"/>
                <a:cs typeface="Trebuchet MS" pitchFamily="34" charset="-120"/>
              </a:rPr>
              <a:t>Of Mice and Men</a:t>
            </a:r>
            <a:endParaRPr lang="en-US" sz="1400" dirty="0"/>
          </a:p>
        </p:txBody>
      </p:sp>
      <p:sp>
        <p:nvSpPr>
          <p:cNvPr id="22" name="Text 19"/>
          <p:cNvSpPr/>
          <p:nvPr/>
        </p:nvSpPr>
        <p:spPr>
          <a:xfrm>
            <a:off x="4069080" y="4224528"/>
            <a:ext cx="3246120" cy="274320"/>
          </a:xfrm>
          <a:prstGeom prst="rect">
            <a:avLst/>
          </a:prstGeom>
          <a:noFill/>
          <a:ln/>
        </p:spPr>
        <p:txBody>
          <a:bodyPr wrap="square" lIns="0" tIns="0" rIns="0" bIns="0" rtlCol="0" anchor="ctr"/>
          <a:lstStyle/>
          <a:p>
            <a:pPr marL="0" indent="0">
              <a:buNone/>
            </a:pPr>
            <a:r>
              <a:rPr lang="en-US" sz="1100" i="1" dirty="0">
                <a:solidFill>
                  <a:srgbClr val="5C6675"/>
                </a:solidFill>
                <a:latin typeface="Calibri" pitchFamily="34" charset="0"/>
                <a:ea typeface="Calibri" pitchFamily="34" charset="-122"/>
                <a:cs typeface="Calibri" pitchFamily="34" charset="-120"/>
              </a:rPr>
              <a:t>by John Steinbeck</a:t>
            </a:r>
            <a:endParaRPr lang="en-US" sz="1100" dirty="0"/>
          </a:p>
        </p:txBody>
      </p:sp>
      <p:sp>
        <p:nvSpPr>
          <p:cNvPr id="23" name="Text 20"/>
          <p:cNvSpPr/>
          <p:nvPr/>
        </p:nvSpPr>
        <p:spPr>
          <a:xfrm>
            <a:off x="7498080" y="3950208"/>
            <a:ext cx="1005840" cy="420624"/>
          </a:xfrm>
          <a:prstGeom prst="rect">
            <a:avLst/>
          </a:prstGeom>
          <a:noFill/>
          <a:ln/>
        </p:spPr>
        <p:txBody>
          <a:bodyPr wrap="square" lIns="0" tIns="0" rIns="0" bIns="0" rtlCol="0" anchor="ctr"/>
          <a:lstStyle/>
          <a:p>
            <a:pPr marL="0" indent="0" algn="r">
              <a:buNone/>
            </a:pPr>
            <a:r>
              <a:rPr lang="en-US" sz="1700" b="1" dirty="0">
                <a:solidFill>
                  <a:srgbClr val="0A6B65"/>
                </a:solidFill>
                <a:latin typeface="Trebuchet MS" pitchFamily="34" charset="0"/>
                <a:ea typeface="Trebuchet MS" pitchFamily="34" charset="-122"/>
                <a:cs typeface="Trebuchet MS" pitchFamily="34" charset="-120"/>
              </a:rPr>
              <a:t>$12.70K</a:t>
            </a:r>
            <a:endParaRPr lang="en-US" sz="1700" dirty="0"/>
          </a:p>
        </p:txBody>
      </p:sp>
      <p:sp>
        <p:nvSpPr>
          <p:cNvPr id="24" name="Text 21"/>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25" name="Text 22"/>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6"/>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50" b="1" kern="0" spc="250" dirty="0">
                <a:solidFill>
                  <a:srgbClr val="0E8E86"/>
                </a:solidFill>
                <a:latin typeface="Trebuchet MS" pitchFamily="34" charset="0"/>
                <a:ea typeface="Trebuchet MS" pitchFamily="34" charset="-122"/>
                <a:cs typeface="Trebuchet MS" pitchFamily="34" charset="-120"/>
              </a:rPr>
              <a:t>STORE VS ONLINE SALES</a:t>
            </a:r>
            <a:endParaRPr lang="en-US" sz="1250" dirty="0"/>
          </a:p>
        </p:txBody>
      </p:sp>
      <p:sp>
        <p:nvSpPr>
          <p:cNvPr id="3" name="Text 1"/>
          <p:cNvSpPr/>
          <p:nvPr/>
        </p:nvSpPr>
        <p:spPr>
          <a:xfrm>
            <a:off x="502920" y="676656"/>
            <a:ext cx="8229600" cy="640080"/>
          </a:xfrm>
          <a:prstGeom prst="rect">
            <a:avLst/>
          </a:prstGeom>
          <a:noFill/>
          <a:ln/>
        </p:spPr>
        <p:txBody>
          <a:bodyPr wrap="square" lIns="0" tIns="0" rIns="0" bIns="0" rtlCol="0" anchor="t"/>
          <a:lstStyle/>
          <a:p>
            <a:pPr marL="0" indent="0" algn="l">
              <a:buNone/>
            </a:pPr>
            <a:r>
              <a:rPr lang="en-US" sz="2300" b="1" dirty="0">
                <a:solidFill>
                  <a:srgbClr val="1E2531"/>
                </a:solidFill>
                <a:latin typeface="Trebuchet MS" pitchFamily="34" charset="0"/>
                <a:ea typeface="Trebuchet MS" pitchFamily="34" charset="-122"/>
                <a:cs typeface="Trebuchet MS" pitchFamily="34" charset="-120"/>
              </a:rPr>
              <a:t>A balanced, two-channel business model</a:t>
            </a:r>
            <a:endParaRPr lang="en-US" sz="2300" dirty="0"/>
          </a:p>
        </p:txBody>
      </p:sp>
      <p:sp>
        <p:nvSpPr>
          <p:cNvPr id="4" name="Shape 2"/>
          <p:cNvSpPr/>
          <p:nvPr/>
        </p:nvSpPr>
        <p:spPr>
          <a:xfrm>
            <a:off x="502920" y="1481328"/>
            <a:ext cx="4069080" cy="315468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graphicFrame>
        <p:nvGraphicFramePr>
          <p:cNvPr id="5" name="Chart 0"/>
          <p:cNvGraphicFramePr/>
          <p:nvPr/>
        </p:nvGraphicFramePr>
        <p:xfrm>
          <a:off x="640080" y="1627632"/>
          <a:ext cx="379476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828032" y="1481328"/>
            <a:ext cx="3813048" cy="132588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7" name="Shape 4"/>
          <p:cNvSpPr/>
          <p:nvPr/>
        </p:nvSpPr>
        <p:spPr>
          <a:xfrm>
            <a:off x="4828032" y="1481328"/>
            <a:ext cx="73152" cy="1325880"/>
          </a:xfrm>
          <a:prstGeom prst="rect">
            <a:avLst/>
          </a:prstGeom>
          <a:solidFill>
            <a:srgbClr val="0E8E86"/>
          </a:solidFill>
          <a:ln/>
        </p:spPr>
        <p:txBody>
          <a:bodyPr/>
          <a:lstStyle/>
          <a:p>
            <a:endParaRPr lang="en-US"/>
          </a:p>
        </p:txBody>
      </p:sp>
      <p:sp>
        <p:nvSpPr>
          <p:cNvPr id="8" name="Text 5"/>
          <p:cNvSpPr/>
          <p:nvPr/>
        </p:nvSpPr>
        <p:spPr>
          <a:xfrm>
            <a:off x="5056632" y="1609344"/>
            <a:ext cx="1645920" cy="310896"/>
          </a:xfrm>
          <a:prstGeom prst="rect">
            <a:avLst/>
          </a:prstGeom>
          <a:noFill/>
          <a:ln/>
        </p:spPr>
        <p:txBody>
          <a:bodyPr wrap="square" lIns="0" tIns="0" rIns="0" bIns="0" rtlCol="0" anchor="ctr"/>
          <a:lstStyle/>
          <a:p>
            <a:pPr marL="0" indent="0">
              <a:buNone/>
            </a:pPr>
            <a:r>
              <a:rPr lang="en-US" sz="1500" b="1" dirty="0">
                <a:solidFill>
                  <a:srgbClr val="1E2531"/>
                </a:solidFill>
                <a:latin typeface="Trebuchet MS" pitchFamily="34" charset="0"/>
                <a:ea typeface="Trebuchet MS" pitchFamily="34" charset="-122"/>
                <a:cs typeface="Trebuchet MS" pitchFamily="34" charset="-120"/>
              </a:rPr>
              <a:t>Store</a:t>
            </a:r>
            <a:endParaRPr lang="en-US" sz="1500" dirty="0"/>
          </a:p>
        </p:txBody>
      </p:sp>
      <p:sp>
        <p:nvSpPr>
          <p:cNvPr id="9" name="Text 6"/>
          <p:cNvSpPr/>
          <p:nvPr/>
        </p:nvSpPr>
        <p:spPr>
          <a:xfrm>
            <a:off x="7178040" y="1591056"/>
            <a:ext cx="1325880" cy="347472"/>
          </a:xfrm>
          <a:prstGeom prst="rect">
            <a:avLst/>
          </a:prstGeom>
          <a:noFill/>
          <a:ln/>
        </p:spPr>
        <p:txBody>
          <a:bodyPr wrap="square" lIns="0" tIns="0" rIns="0" bIns="0" rtlCol="0" anchor="ctr"/>
          <a:lstStyle/>
          <a:p>
            <a:pPr marL="0" indent="0" algn="r">
              <a:buNone/>
            </a:pPr>
            <a:r>
              <a:rPr lang="en-US" sz="1900" b="1" dirty="0">
                <a:solidFill>
                  <a:srgbClr val="0A6B65"/>
                </a:solidFill>
                <a:latin typeface="Trebuchet MS" pitchFamily="34" charset="0"/>
                <a:ea typeface="Trebuchet MS" pitchFamily="34" charset="-122"/>
                <a:cs typeface="Trebuchet MS" pitchFamily="34" charset="-120"/>
              </a:rPr>
              <a:t>$24.24M</a:t>
            </a:r>
            <a:endParaRPr lang="en-US" sz="1900" dirty="0"/>
          </a:p>
        </p:txBody>
      </p:sp>
      <p:sp>
        <p:nvSpPr>
          <p:cNvPr id="10" name="Text 7"/>
          <p:cNvSpPr/>
          <p:nvPr/>
        </p:nvSpPr>
        <p:spPr>
          <a:xfrm>
            <a:off x="5056632" y="1956816"/>
            <a:ext cx="3401568" cy="256032"/>
          </a:xfrm>
          <a:prstGeom prst="rect">
            <a:avLst/>
          </a:prstGeom>
          <a:noFill/>
          <a:ln/>
        </p:spPr>
        <p:txBody>
          <a:bodyPr wrap="square" lIns="0" tIns="0" rIns="0" bIns="0" rtlCol="0" anchor="ctr"/>
          <a:lstStyle/>
          <a:p>
            <a:pPr marL="0" indent="0">
              <a:buNone/>
            </a:pPr>
            <a:r>
              <a:rPr lang="en-US" sz="1100" b="1" dirty="0">
                <a:solidFill>
                  <a:srgbClr val="5C6675"/>
                </a:solidFill>
                <a:latin typeface="Calibri" pitchFamily="34" charset="0"/>
                <a:ea typeface="Calibri" pitchFamily="34" charset="-122"/>
                <a:cs typeface="Calibri" pitchFamily="34" charset="-120"/>
              </a:rPr>
              <a:t>73.45% of total revenue</a:t>
            </a:r>
            <a:endParaRPr lang="en-US" sz="1100" dirty="0"/>
          </a:p>
        </p:txBody>
      </p:sp>
      <p:sp>
        <p:nvSpPr>
          <p:cNvPr id="11" name="Text 8"/>
          <p:cNvSpPr/>
          <p:nvPr/>
        </p:nvSpPr>
        <p:spPr>
          <a:xfrm>
            <a:off x="5056632" y="2212848"/>
            <a:ext cx="3401568" cy="502920"/>
          </a:xfrm>
          <a:prstGeom prst="rect">
            <a:avLst/>
          </a:prstGeom>
          <a:noFill/>
          <a:ln/>
        </p:spPr>
        <p:txBody>
          <a:bodyPr wrap="square" lIns="0" tIns="0" rIns="0" bIns="0" rtlCol="0" anchor="ctr"/>
          <a:lstStyle/>
          <a:p>
            <a:pPr marL="0" indent="0">
              <a:lnSpc>
                <a:spcPct val="100000"/>
              </a:lnSpc>
              <a:buNone/>
            </a:pPr>
            <a:r>
              <a:rPr lang="en-US" sz="1100" i="1" dirty="0">
                <a:solidFill>
                  <a:srgbClr val="5C6675"/>
                </a:solidFill>
                <a:latin typeface="Calibri" pitchFamily="34" charset="0"/>
                <a:ea typeface="Calibri" pitchFamily="34" charset="-122"/>
                <a:cs typeface="Calibri" pitchFamily="34" charset="-120"/>
              </a:rPr>
              <a:t>Strong in-store demand — focus on customer experience and foot traffic.</a:t>
            </a:r>
            <a:endParaRPr lang="en-US" sz="1100" dirty="0"/>
          </a:p>
        </p:txBody>
      </p:sp>
      <p:sp>
        <p:nvSpPr>
          <p:cNvPr id="12" name="Shape 9"/>
          <p:cNvSpPr/>
          <p:nvPr/>
        </p:nvSpPr>
        <p:spPr>
          <a:xfrm>
            <a:off x="4828032" y="2971800"/>
            <a:ext cx="3813048" cy="1325880"/>
          </a:xfrm>
          <a:prstGeom prst="rect">
            <a:avLst/>
          </a:prstGeom>
          <a:solidFill>
            <a:srgbClr val="FFFFFF"/>
          </a:solidFill>
          <a:ln w="12700">
            <a:solidFill>
              <a:srgbClr val="E2EDEB"/>
            </a:solidFill>
            <a:prstDash val="solid"/>
          </a:ln>
          <a:effectLst>
            <a:outerShdw blurRad="101600" dist="25400" dir="5400000" algn="bl" rotWithShape="0">
              <a:srgbClr val="0A2A28">
                <a:alpha val="16000"/>
              </a:srgbClr>
            </a:outerShdw>
          </a:effectLst>
        </p:spPr>
        <p:txBody>
          <a:bodyPr/>
          <a:lstStyle/>
          <a:p>
            <a:endParaRPr lang="en-US"/>
          </a:p>
        </p:txBody>
      </p:sp>
      <p:sp>
        <p:nvSpPr>
          <p:cNvPr id="13" name="Shape 10"/>
          <p:cNvSpPr/>
          <p:nvPr/>
        </p:nvSpPr>
        <p:spPr>
          <a:xfrm>
            <a:off x="4828032" y="2971800"/>
            <a:ext cx="73152" cy="1325880"/>
          </a:xfrm>
          <a:prstGeom prst="rect">
            <a:avLst/>
          </a:prstGeom>
          <a:solidFill>
            <a:srgbClr val="0A6B65"/>
          </a:solidFill>
          <a:ln/>
        </p:spPr>
        <p:txBody>
          <a:bodyPr/>
          <a:lstStyle/>
          <a:p>
            <a:endParaRPr lang="en-US"/>
          </a:p>
        </p:txBody>
      </p:sp>
      <p:sp>
        <p:nvSpPr>
          <p:cNvPr id="14" name="Text 11"/>
          <p:cNvSpPr/>
          <p:nvPr/>
        </p:nvSpPr>
        <p:spPr>
          <a:xfrm>
            <a:off x="5056632" y="3099816"/>
            <a:ext cx="1645920" cy="310896"/>
          </a:xfrm>
          <a:prstGeom prst="rect">
            <a:avLst/>
          </a:prstGeom>
          <a:noFill/>
          <a:ln/>
        </p:spPr>
        <p:txBody>
          <a:bodyPr wrap="square" lIns="0" tIns="0" rIns="0" bIns="0" rtlCol="0" anchor="ctr"/>
          <a:lstStyle/>
          <a:p>
            <a:pPr marL="0" indent="0">
              <a:buNone/>
            </a:pPr>
            <a:r>
              <a:rPr lang="en-US" sz="1500" b="1" dirty="0">
                <a:solidFill>
                  <a:srgbClr val="1E2531"/>
                </a:solidFill>
                <a:latin typeface="Trebuchet MS" pitchFamily="34" charset="0"/>
                <a:ea typeface="Trebuchet MS" pitchFamily="34" charset="-122"/>
                <a:cs typeface="Trebuchet MS" pitchFamily="34" charset="-120"/>
              </a:rPr>
              <a:t>Online</a:t>
            </a:r>
            <a:endParaRPr lang="en-US" sz="1500" dirty="0"/>
          </a:p>
        </p:txBody>
      </p:sp>
      <p:sp>
        <p:nvSpPr>
          <p:cNvPr id="15" name="Text 12"/>
          <p:cNvSpPr/>
          <p:nvPr/>
        </p:nvSpPr>
        <p:spPr>
          <a:xfrm>
            <a:off x="7178040" y="3081528"/>
            <a:ext cx="1325880" cy="347472"/>
          </a:xfrm>
          <a:prstGeom prst="rect">
            <a:avLst/>
          </a:prstGeom>
          <a:noFill/>
          <a:ln/>
        </p:spPr>
        <p:txBody>
          <a:bodyPr wrap="square" lIns="0" tIns="0" rIns="0" bIns="0" rtlCol="0" anchor="ctr"/>
          <a:lstStyle/>
          <a:p>
            <a:pPr marL="0" indent="0" algn="r">
              <a:buNone/>
            </a:pPr>
            <a:r>
              <a:rPr lang="en-US" sz="1900" b="1" dirty="0">
                <a:solidFill>
                  <a:srgbClr val="0A6B65"/>
                </a:solidFill>
                <a:latin typeface="Trebuchet MS" pitchFamily="34" charset="0"/>
                <a:ea typeface="Trebuchet MS" pitchFamily="34" charset="-122"/>
                <a:cs typeface="Trebuchet MS" pitchFamily="34" charset="-120"/>
              </a:rPr>
              <a:t>$8.76M</a:t>
            </a:r>
            <a:endParaRPr lang="en-US" sz="1900" dirty="0"/>
          </a:p>
        </p:txBody>
      </p:sp>
      <p:sp>
        <p:nvSpPr>
          <p:cNvPr id="16" name="Text 13"/>
          <p:cNvSpPr/>
          <p:nvPr/>
        </p:nvSpPr>
        <p:spPr>
          <a:xfrm>
            <a:off x="5056632" y="3447288"/>
            <a:ext cx="3401568" cy="256032"/>
          </a:xfrm>
          <a:prstGeom prst="rect">
            <a:avLst/>
          </a:prstGeom>
          <a:noFill/>
          <a:ln/>
        </p:spPr>
        <p:txBody>
          <a:bodyPr wrap="square" lIns="0" tIns="0" rIns="0" bIns="0" rtlCol="0" anchor="ctr"/>
          <a:lstStyle/>
          <a:p>
            <a:pPr marL="0" indent="0">
              <a:buNone/>
            </a:pPr>
            <a:r>
              <a:rPr lang="en-US" sz="1100" b="1" dirty="0">
                <a:solidFill>
                  <a:srgbClr val="5C6675"/>
                </a:solidFill>
                <a:latin typeface="Calibri" pitchFamily="34" charset="0"/>
                <a:ea typeface="Calibri" pitchFamily="34" charset="-122"/>
                <a:cs typeface="Calibri" pitchFamily="34" charset="-120"/>
              </a:rPr>
              <a:t>26.55% of total revenue</a:t>
            </a:r>
            <a:endParaRPr lang="en-US" sz="1100" dirty="0"/>
          </a:p>
        </p:txBody>
      </p:sp>
      <p:sp>
        <p:nvSpPr>
          <p:cNvPr id="17" name="Text 14"/>
          <p:cNvSpPr/>
          <p:nvPr/>
        </p:nvSpPr>
        <p:spPr>
          <a:xfrm>
            <a:off x="5056632" y="3703320"/>
            <a:ext cx="3401568" cy="502920"/>
          </a:xfrm>
          <a:prstGeom prst="rect">
            <a:avLst/>
          </a:prstGeom>
          <a:noFill/>
          <a:ln/>
        </p:spPr>
        <p:txBody>
          <a:bodyPr wrap="square" lIns="0" tIns="0" rIns="0" bIns="0" rtlCol="0" anchor="ctr"/>
          <a:lstStyle/>
          <a:p>
            <a:pPr marL="0" indent="0">
              <a:lnSpc>
                <a:spcPct val="100000"/>
              </a:lnSpc>
              <a:buNone/>
            </a:pPr>
            <a:r>
              <a:rPr lang="en-US" sz="1100" i="1" dirty="0">
                <a:solidFill>
                  <a:srgbClr val="5C6675"/>
                </a:solidFill>
                <a:latin typeface="Calibri" pitchFamily="34" charset="0"/>
                <a:ea typeface="Calibri" pitchFamily="34" charset="-122"/>
                <a:cs typeface="Calibri" pitchFamily="34" charset="-120"/>
              </a:rPr>
              <a:t>Significant digital revenue — invest in marketing, website, and shipping.</a:t>
            </a:r>
            <a:endParaRPr lang="en-US" sz="1100" dirty="0"/>
          </a:p>
        </p:txBody>
      </p:sp>
      <p:sp>
        <p:nvSpPr>
          <p:cNvPr id="18" name="Text 15"/>
          <p:cNvSpPr/>
          <p:nvPr/>
        </p:nvSpPr>
        <p:spPr>
          <a:xfrm>
            <a:off x="502920" y="4828032"/>
            <a:ext cx="5486400" cy="256032"/>
          </a:xfrm>
          <a:prstGeom prst="rect">
            <a:avLst/>
          </a:prstGeom>
          <a:noFill/>
          <a:ln/>
        </p:spPr>
        <p:txBody>
          <a:bodyPr wrap="square" lIns="0" tIns="0" rIns="0" bIns="0" rtlCol="0" anchor="ctr"/>
          <a:lstStyle/>
          <a:p>
            <a:pPr marL="0" indent="0" algn="l">
              <a:buNone/>
            </a:pPr>
            <a:r>
              <a:rPr lang="en-US" sz="900" dirty="0">
                <a:solidFill>
                  <a:srgbClr val="5C6675"/>
                </a:solidFill>
                <a:latin typeface="Calibri" pitchFamily="34" charset="0"/>
                <a:ea typeface="Calibri" pitchFamily="34" charset="-122"/>
                <a:cs typeface="Calibri" pitchFamily="34" charset="-120"/>
              </a:rPr>
              <a:t>Northeast Regional Sales Report  ·  EmporiUm</a:t>
            </a:r>
            <a:endParaRPr lang="en-US" sz="900" dirty="0"/>
          </a:p>
        </p:txBody>
      </p:sp>
      <p:sp>
        <p:nvSpPr>
          <p:cNvPr id="19" name="Text 16"/>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5C66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2E2C"/>
        </a:solidFill>
        <a:effectLst/>
      </p:bgPr>
    </p:bg>
    <p:spTree>
      <p:nvGrpSpPr>
        <p:cNvPr id="1" name=""/>
        <p:cNvGrpSpPr/>
        <p:nvPr/>
      </p:nvGrpSpPr>
      <p:grpSpPr>
        <a:xfrm>
          <a:off x="0" y="0"/>
          <a:ext cx="0" cy="0"/>
          <a:chOff x="0" y="0"/>
          <a:chExt cx="0" cy="0"/>
        </a:xfrm>
      </p:grpSpPr>
      <p:pic>
        <p:nvPicPr>
          <p:cNvPr id="2" name="Image 0" descr="/agent/turn1/workspace/images/image-0585e21f4e5ff542759b675a5aa84cb2.jp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6302E">
              <a:alpha val="74000"/>
            </a:srgbClr>
          </a:solidFill>
          <a:ln/>
        </p:spPr>
        <p:txBody>
          <a:bodyPr/>
          <a:lstStyle/>
          <a:p>
            <a:endParaRPr lang="en-US"/>
          </a:p>
        </p:txBody>
      </p:sp>
      <p:sp>
        <p:nvSpPr>
          <p:cNvPr id="4" name="Text 1"/>
          <p:cNvSpPr/>
          <p:nvPr/>
        </p:nvSpPr>
        <p:spPr>
          <a:xfrm>
            <a:off x="548640" y="411480"/>
            <a:ext cx="8229600" cy="292608"/>
          </a:xfrm>
          <a:prstGeom prst="rect">
            <a:avLst/>
          </a:prstGeom>
          <a:noFill/>
          <a:ln/>
        </p:spPr>
        <p:txBody>
          <a:bodyPr wrap="square" lIns="0" tIns="0" rIns="0" bIns="0" rtlCol="0" anchor="ctr"/>
          <a:lstStyle/>
          <a:p>
            <a:pPr marL="0" indent="0">
              <a:buNone/>
            </a:pPr>
            <a:r>
              <a:rPr lang="en-US" sz="1300" b="1" kern="0" spc="250" dirty="0">
                <a:solidFill>
                  <a:srgbClr val="8ED0CB"/>
                </a:solidFill>
                <a:latin typeface="Trebuchet MS" pitchFamily="34" charset="0"/>
                <a:ea typeface="Trebuchet MS" pitchFamily="34" charset="-122"/>
                <a:cs typeface="Trebuchet MS" pitchFamily="34" charset="-120"/>
              </a:rPr>
              <a:t>KEY INSIGHTS &amp; RECOMMENDATIONS</a:t>
            </a:r>
            <a:endParaRPr lang="en-US" sz="1300" dirty="0"/>
          </a:p>
        </p:txBody>
      </p:sp>
      <p:sp>
        <p:nvSpPr>
          <p:cNvPr id="5" name="Text 2"/>
          <p:cNvSpPr/>
          <p:nvPr/>
        </p:nvSpPr>
        <p:spPr>
          <a:xfrm>
            <a:off x="548640" y="731520"/>
            <a:ext cx="8229600" cy="502920"/>
          </a:xfrm>
          <a:prstGeom prst="rect">
            <a:avLst/>
          </a:prstGeom>
          <a:noFill/>
          <a:ln/>
        </p:spPr>
        <p:txBody>
          <a:bodyPr wrap="square" lIns="0" tIns="0" rIns="0" bIns="0" rtlCol="0" anchor="ctr"/>
          <a:lstStyle/>
          <a:p>
            <a:pPr marL="0" indent="0">
              <a:buNone/>
            </a:pPr>
            <a:r>
              <a:rPr lang="en-US" sz="2700" b="1" dirty="0">
                <a:solidFill>
                  <a:srgbClr val="FFFFFF"/>
                </a:solidFill>
                <a:latin typeface="Trebuchet MS" pitchFamily="34" charset="0"/>
                <a:ea typeface="Trebuchet MS" pitchFamily="34" charset="-122"/>
                <a:cs typeface="Trebuchet MS" pitchFamily="34" charset="-120"/>
              </a:rPr>
              <a:t>Positioned for continued growth</a:t>
            </a:r>
            <a:endParaRPr lang="en-US" sz="2700" dirty="0"/>
          </a:p>
        </p:txBody>
      </p:sp>
      <p:sp>
        <p:nvSpPr>
          <p:cNvPr id="6" name="Text 3"/>
          <p:cNvSpPr/>
          <p:nvPr/>
        </p:nvSpPr>
        <p:spPr>
          <a:xfrm>
            <a:off x="548640" y="1481328"/>
            <a:ext cx="3931920" cy="274320"/>
          </a:xfrm>
          <a:prstGeom prst="rect">
            <a:avLst/>
          </a:prstGeom>
          <a:noFill/>
          <a:ln/>
        </p:spPr>
        <p:txBody>
          <a:bodyPr wrap="square" lIns="0" tIns="0" rIns="0" bIns="0" rtlCol="0" anchor="ctr"/>
          <a:lstStyle/>
          <a:p>
            <a:pPr marL="0" indent="0">
              <a:buNone/>
            </a:pPr>
            <a:r>
              <a:rPr lang="en-US" sz="1200" b="1" kern="0" spc="100" dirty="0">
                <a:solidFill>
                  <a:srgbClr val="8ED0CB"/>
                </a:solidFill>
                <a:latin typeface="Trebuchet MS" pitchFamily="34" charset="0"/>
                <a:ea typeface="Trebuchet MS" pitchFamily="34" charset="-122"/>
                <a:cs typeface="Trebuchet MS" pitchFamily="34" charset="-120"/>
              </a:rPr>
              <a:t>WHAT THE DATA TELLS US</a:t>
            </a:r>
            <a:endParaRPr lang="en-US" sz="1200" dirty="0"/>
          </a:p>
        </p:txBody>
      </p:sp>
      <p:sp>
        <p:nvSpPr>
          <p:cNvPr id="7" name="Text 4"/>
          <p:cNvSpPr/>
          <p:nvPr/>
        </p:nvSpPr>
        <p:spPr>
          <a:xfrm>
            <a:off x="548640" y="1810512"/>
            <a:ext cx="3886200" cy="2011680"/>
          </a:xfrm>
          <a:prstGeom prst="rect">
            <a:avLst/>
          </a:prstGeom>
          <a:noFill/>
          <a:ln/>
        </p:spPr>
        <p:txBody>
          <a:bodyPr wrap="square" lIns="0" tIns="0" rIns="0" bIns="0" rtlCol="0" anchor="ctr"/>
          <a:lstStyle/>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Stable, seasonal demand with back-to-school and holiday peaks.</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Revenue concentrated in a few categories, led by Technology &amp; Accessories.</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State performance varies — Maryland and Massachusetts dominate.</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Both store and online channels matter to overall performance.</a:t>
            </a:r>
            <a:endParaRPr lang="en-US" sz="1250" dirty="0"/>
          </a:p>
        </p:txBody>
      </p:sp>
      <p:sp>
        <p:nvSpPr>
          <p:cNvPr id="8" name="Text 5"/>
          <p:cNvSpPr/>
          <p:nvPr/>
        </p:nvSpPr>
        <p:spPr>
          <a:xfrm>
            <a:off x="4754880" y="1481328"/>
            <a:ext cx="3931920" cy="274320"/>
          </a:xfrm>
          <a:prstGeom prst="rect">
            <a:avLst/>
          </a:prstGeom>
          <a:noFill/>
          <a:ln/>
        </p:spPr>
        <p:txBody>
          <a:bodyPr wrap="square" lIns="0" tIns="0" rIns="0" bIns="0" rtlCol="0" anchor="ctr"/>
          <a:lstStyle/>
          <a:p>
            <a:pPr marL="0" indent="0">
              <a:buNone/>
            </a:pPr>
            <a:r>
              <a:rPr lang="en-US" sz="1200" b="1" kern="0" spc="100" dirty="0">
                <a:solidFill>
                  <a:srgbClr val="8ED0CB"/>
                </a:solidFill>
                <a:latin typeface="Trebuchet MS" pitchFamily="34" charset="0"/>
                <a:ea typeface="Trebuchet MS" pitchFamily="34" charset="-122"/>
                <a:cs typeface="Trebuchet MS" pitchFamily="34" charset="-120"/>
              </a:rPr>
              <a:t>RECOMMENDED ACTIONS</a:t>
            </a:r>
            <a:endParaRPr lang="en-US" sz="1200" dirty="0"/>
          </a:p>
        </p:txBody>
      </p:sp>
      <p:sp>
        <p:nvSpPr>
          <p:cNvPr id="9" name="Text 6"/>
          <p:cNvSpPr/>
          <p:nvPr/>
        </p:nvSpPr>
        <p:spPr>
          <a:xfrm>
            <a:off x="4754880" y="1810512"/>
            <a:ext cx="3886200" cy="2011680"/>
          </a:xfrm>
          <a:prstGeom prst="rect">
            <a:avLst/>
          </a:prstGeom>
          <a:noFill/>
          <a:ln/>
        </p:spPr>
        <p:txBody>
          <a:bodyPr wrap="square" lIns="0" tIns="0" rIns="0" bIns="0" rtlCol="0" anchor="ctr"/>
          <a:lstStyle/>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Stock ahead of known peak periods to avoid shortages.</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Back the winners — top categories and best-selling books.</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Grow lagging states like Maine using proven playbooks.</a:t>
            </a:r>
            <a:endParaRPr lang="en-US" sz="1250" dirty="0"/>
          </a:p>
          <a:p>
            <a:pPr marL="177800" indent="-177800">
              <a:lnSpc>
                <a:spcPct val="103000"/>
              </a:lnSpc>
              <a:spcAft>
                <a:spcPts val="800"/>
              </a:spcAft>
              <a:buSzPct val="100000"/>
              <a:buChar char="•"/>
            </a:pPr>
            <a:r>
              <a:rPr lang="en-US" sz="1250" dirty="0">
                <a:solidFill>
                  <a:srgbClr val="E6F2F0"/>
                </a:solidFill>
                <a:latin typeface="Calibri" pitchFamily="34" charset="0"/>
                <a:ea typeface="Calibri" pitchFamily="34" charset="-122"/>
                <a:cs typeface="Calibri" pitchFamily="34" charset="-120"/>
              </a:rPr>
              <a:t>Balance the channels and use history to forecast demand.</a:t>
            </a:r>
            <a:endParaRPr lang="en-US" sz="1250" dirty="0"/>
          </a:p>
        </p:txBody>
      </p:sp>
      <p:sp>
        <p:nvSpPr>
          <p:cNvPr id="10" name="Shape 7"/>
          <p:cNvSpPr/>
          <p:nvPr/>
        </p:nvSpPr>
        <p:spPr>
          <a:xfrm>
            <a:off x="548640" y="4114800"/>
            <a:ext cx="2670048" cy="713232"/>
          </a:xfrm>
          <a:prstGeom prst="rect">
            <a:avLst/>
          </a:prstGeom>
          <a:solidFill>
            <a:srgbClr val="0E5C57">
              <a:alpha val="85000"/>
            </a:srgbClr>
          </a:solidFill>
          <a:ln w="12700">
            <a:solidFill>
              <a:srgbClr val="8ED0CB"/>
            </a:solidFill>
            <a:prstDash val="solid"/>
          </a:ln>
        </p:spPr>
        <p:txBody>
          <a:bodyPr/>
          <a:lstStyle/>
          <a:p>
            <a:endParaRPr lang="en-US"/>
          </a:p>
        </p:txBody>
      </p:sp>
      <p:sp>
        <p:nvSpPr>
          <p:cNvPr id="11" name="Text 8"/>
          <p:cNvSpPr/>
          <p:nvPr/>
        </p:nvSpPr>
        <p:spPr>
          <a:xfrm>
            <a:off x="694944" y="4206240"/>
            <a:ext cx="239572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$33.0M</a:t>
            </a:r>
            <a:endParaRPr lang="en-US" sz="1900" dirty="0"/>
          </a:p>
        </p:txBody>
      </p:sp>
      <p:sp>
        <p:nvSpPr>
          <p:cNvPr id="12" name="Text 9"/>
          <p:cNvSpPr/>
          <p:nvPr/>
        </p:nvSpPr>
        <p:spPr>
          <a:xfrm>
            <a:off x="694944" y="4535424"/>
            <a:ext cx="2395728" cy="237744"/>
          </a:xfrm>
          <a:prstGeom prst="rect">
            <a:avLst/>
          </a:prstGeom>
          <a:noFill/>
          <a:ln/>
        </p:spPr>
        <p:txBody>
          <a:bodyPr wrap="square" lIns="0" tIns="0" rIns="0" bIns="0" rtlCol="0" anchor="ctr"/>
          <a:lstStyle/>
          <a:p>
            <a:pPr marL="0" indent="0">
              <a:buNone/>
            </a:pPr>
            <a:r>
              <a:rPr lang="en-US" sz="950" dirty="0">
                <a:solidFill>
                  <a:srgbClr val="8ED0CB"/>
                </a:solidFill>
                <a:latin typeface="Calibri" pitchFamily="34" charset="0"/>
                <a:ea typeface="Calibri" pitchFamily="34" charset="-122"/>
                <a:cs typeface="Calibri" pitchFamily="34" charset="-120"/>
              </a:rPr>
              <a:t>Total regional revenue</a:t>
            </a:r>
            <a:endParaRPr lang="en-US" sz="950" dirty="0"/>
          </a:p>
        </p:txBody>
      </p:sp>
      <p:sp>
        <p:nvSpPr>
          <p:cNvPr id="13" name="Shape 10"/>
          <p:cNvSpPr/>
          <p:nvPr/>
        </p:nvSpPr>
        <p:spPr>
          <a:xfrm>
            <a:off x="3328416" y="4114800"/>
            <a:ext cx="2670048" cy="713232"/>
          </a:xfrm>
          <a:prstGeom prst="rect">
            <a:avLst/>
          </a:prstGeom>
          <a:solidFill>
            <a:srgbClr val="0E5C57">
              <a:alpha val="85000"/>
            </a:srgbClr>
          </a:solidFill>
          <a:ln w="12700">
            <a:solidFill>
              <a:srgbClr val="8ED0CB"/>
            </a:solidFill>
            <a:prstDash val="solid"/>
          </a:ln>
        </p:spPr>
        <p:txBody>
          <a:bodyPr/>
          <a:lstStyle/>
          <a:p>
            <a:endParaRPr lang="en-US"/>
          </a:p>
        </p:txBody>
      </p:sp>
      <p:sp>
        <p:nvSpPr>
          <p:cNvPr id="14" name="Text 11"/>
          <p:cNvSpPr/>
          <p:nvPr/>
        </p:nvSpPr>
        <p:spPr>
          <a:xfrm>
            <a:off x="3474720" y="4206240"/>
            <a:ext cx="239572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70%+</a:t>
            </a:r>
            <a:endParaRPr lang="en-US" sz="1900" dirty="0"/>
          </a:p>
        </p:txBody>
      </p:sp>
      <p:sp>
        <p:nvSpPr>
          <p:cNvPr id="15" name="Text 12"/>
          <p:cNvSpPr/>
          <p:nvPr/>
        </p:nvSpPr>
        <p:spPr>
          <a:xfrm>
            <a:off x="3474720" y="4535424"/>
            <a:ext cx="2395728" cy="237744"/>
          </a:xfrm>
          <a:prstGeom prst="rect">
            <a:avLst/>
          </a:prstGeom>
          <a:noFill/>
          <a:ln/>
        </p:spPr>
        <p:txBody>
          <a:bodyPr wrap="square" lIns="0" tIns="0" rIns="0" bIns="0" rtlCol="0" anchor="ctr"/>
          <a:lstStyle/>
          <a:p>
            <a:pPr marL="0" indent="0">
              <a:buNone/>
            </a:pPr>
            <a:r>
              <a:rPr lang="en-US" sz="950" dirty="0">
                <a:solidFill>
                  <a:srgbClr val="8ED0CB"/>
                </a:solidFill>
                <a:latin typeface="Calibri" pitchFamily="34" charset="0"/>
                <a:ea typeface="Calibri" pitchFamily="34" charset="-122"/>
                <a:cs typeface="Calibri" pitchFamily="34" charset="-120"/>
              </a:rPr>
              <a:t>From Maryland &amp; Massachusetts</a:t>
            </a:r>
            <a:endParaRPr lang="en-US" sz="950" dirty="0"/>
          </a:p>
        </p:txBody>
      </p:sp>
      <p:sp>
        <p:nvSpPr>
          <p:cNvPr id="16" name="Shape 13"/>
          <p:cNvSpPr/>
          <p:nvPr/>
        </p:nvSpPr>
        <p:spPr>
          <a:xfrm>
            <a:off x="6108192" y="4114800"/>
            <a:ext cx="2670048" cy="713232"/>
          </a:xfrm>
          <a:prstGeom prst="rect">
            <a:avLst/>
          </a:prstGeom>
          <a:solidFill>
            <a:srgbClr val="0E5C57">
              <a:alpha val="85000"/>
            </a:srgbClr>
          </a:solidFill>
          <a:ln w="12700">
            <a:solidFill>
              <a:srgbClr val="8ED0CB"/>
            </a:solidFill>
            <a:prstDash val="solid"/>
          </a:ln>
        </p:spPr>
        <p:txBody>
          <a:bodyPr/>
          <a:lstStyle/>
          <a:p>
            <a:endParaRPr lang="en-US"/>
          </a:p>
        </p:txBody>
      </p:sp>
      <p:sp>
        <p:nvSpPr>
          <p:cNvPr id="17" name="Text 14"/>
          <p:cNvSpPr/>
          <p:nvPr/>
        </p:nvSpPr>
        <p:spPr>
          <a:xfrm>
            <a:off x="6254496" y="4206240"/>
            <a:ext cx="239572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Tech &amp; Acc.</a:t>
            </a:r>
            <a:endParaRPr lang="en-US" sz="1900" dirty="0"/>
          </a:p>
        </p:txBody>
      </p:sp>
      <p:sp>
        <p:nvSpPr>
          <p:cNvPr id="18" name="Text 15"/>
          <p:cNvSpPr/>
          <p:nvPr/>
        </p:nvSpPr>
        <p:spPr>
          <a:xfrm>
            <a:off x="6254496" y="4535424"/>
            <a:ext cx="2395728" cy="237744"/>
          </a:xfrm>
          <a:prstGeom prst="rect">
            <a:avLst/>
          </a:prstGeom>
          <a:noFill/>
          <a:ln/>
        </p:spPr>
        <p:txBody>
          <a:bodyPr wrap="square" lIns="0" tIns="0" rIns="0" bIns="0" rtlCol="0" anchor="ctr"/>
          <a:lstStyle/>
          <a:p>
            <a:pPr marL="0" indent="0">
              <a:buNone/>
            </a:pPr>
            <a:r>
              <a:rPr lang="en-US" sz="950" dirty="0">
                <a:solidFill>
                  <a:srgbClr val="8ED0CB"/>
                </a:solidFill>
                <a:latin typeface="Calibri" pitchFamily="34" charset="0"/>
                <a:ea typeface="Calibri" pitchFamily="34" charset="-122"/>
                <a:cs typeface="Calibri" pitchFamily="34" charset="-120"/>
              </a:rPr>
              <a:t>Primary revenue driver</a:t>
            </a:r>
            <a:endParaRPr lang="en-US" sz="950" dirty="0"/>
          </a:p>
        </p:txBody>
      </p:sp>
      <p:sp>
        <p:nvSpPr>
          <p:cNvPr id="19" name="Text 16"/>
          <p:cNvSpPr/>
          <p:nvPr/>
        </p:nvSpPr>
        <p:spPr>
          <a:xfrm>
            <a:off x="8229600" y="4828032"/>
            <a:ext cx="411480" cy="256032"/>
          </a:xfrm>
          <a:prstGeom prst="rect">
            <a:avLst/>
          </a:prstGeom>
          <a:noFill/>
          <a:ln/>
        </p:spPr>
        <p:txBody>
          <a:bodyPr wrap="square" lIns="0" tIns="0" rIns="0" bIns="0" rtlCol="0" anchor="ctr"/>
          <a:lstStyle/>
          <a:p>
            <a:pPr marL="0" indent="0" algn="r">
              <a:buNone/>
            </a:pPr>
            <a:r>
              <a:rPr lang="en-US" sz="900" dirty="0">
                <a:solidFill>
                  <a:srgbClr val="8ED0C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1316</Words>
  <Application>Microsoft Office PowerPoint</Application>
  <PresentationFormat>On-screen Show (16:9)</PresentationFormat>
  <Paragraphs>127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dimitri nji</dc:creator>
  <cp:lastModifiedBy>dimitri nji</cp:lastModifiedBy>
  <cp:revision>1</cp:revision>
  <dcterms:created xsi:type="dcterms:W3CDTF">2026-06-26T08:19:50Z</dcterms:created>
  <dcterms:modified xsi:type="dcterms:W3CDTF">2026-06-26T08:49:17Z</dcterms:modified>
</cp:coreProperties>
</file>